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5845c438374941" /><Relationship Type="http://schemas.openxmlformats.org/officeDocument/2006/relationships/extended-properties" Target="/docProps/app.xml" Id="R954587a9a64b47e2" /><Relationship Type="http://schemas.openxmlformats.org/officeDocument/2006/relationships/officeDocument" Target="/ppt/presentation.xml" Id="R1dbdfbfa80ce4c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f3833b5454048"/>
  </p:sldMasterIdLst>
  <p:notesMasterIdLst>
    <p:notesMasterId xmlns:r="http://schemas.openxmlformats.org/officeDocument/2006/relationships" r:id="R239dda4d8f7e4a98"/>
  </p:notesMasterIdLst>
  <p:sldIdLst>
    <p:sldId xmlns:r="http://schemas.openxmlformats.org/officeDocument/2006/relationships" id="256" r:id="R8b54aa849e23422a"/>
    <p:sldId xmlns:r="http://schemas.openxmlformats.org/officeDocument/2006/relationships" id="257" r:id="Rf23b8ee1ef6842f2"/>
    <p:sldId xmlns:r="http://schemas.openxmlformats.org/officeDocument/2006/relationships" id="258" r:id="R4ecc46304a9141cd"/>
    <p:sldId xmlns:r="http://schemas.openxmlformats.org/officeDocument/2006/relationships" id="259" r:id="R3de2bfda06da4a34"/>
    <p:sldId xmlns:r="http://schemas.openxmlformats.org/officeDocument/2006/relationships" id="260" r:id="R5f39c1d97358470e"/>
    <p:sldId xmlns:r="http://schemas.openxmlformats.org/officeDocument/2006/relationships" id="261" r:id="R6bb1e9b8deb94742"/>
    <p:sldId xmlns:r="http://schemas.openxmlformats.org/officeDocument/2006/relationships" id="262" r:id="Rb5f863e98f0545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3c1a4d8d44029" /><Relationship Type="http://schemas.openxmlformats.org/officeDocument/2006/relationships/slideMaster" Target="/ppt/slideMasters/slideMaster1.xml" Id="R3ccf3833b5454048" /><Relationship Type="http://schemas.openxmlformats.org/officeDocument/2006/relationships/notesMaster" Target="/ppt/notesMasters/notesMaster1.xml" Id="R239dda4d8f7e4a98" /><Relationship Type="http://schemas.openxmlformats.org/officeDocument/2006/relationships/presProps" Target="/ppt/presProps.xml" Id="R9a387ccdedb04410" /><Relationship Type="http://schemas.openxmlformats.org/officeDocument/2006/relationships/tableStyles" Target="/ppt/tableStyles.xml" Id="R4580a41714584458" /><Relationship Type="http://schemas.openxmlformats.org/officeDocument/2006/relationships/slide" Target="/ppt/slides/slide1.xml" Id="R8b54aa849e23422a" /><Relationship Type="http://schemas.openxmlformats.org/officeDocument/2006/relationships/slide" Target="/ppt/slides/slide2.xml" Id="Rf23b8ee1ef6842f2" /><Relationship Type="http://schemas.openxmlformats.org/officeDocument/2006/relationships/slide" Target="/ppt/slides/slide3.xml" Id="R4ecc46304a9141cd" /><Relationship Type="http://schemas.openxmlformats.org/officeDocument/2006/relationships/slide" Target="/ppt/slides/slide4.xml" Id="R3de2bfda06da4a34" /><Relationship Type="http://schemas.openxmlformats.org/officeDocument/2006/relationships/slide" Target="/ppt/slides/slide5.xml" Id="R5f39c1d97358470e" /><Relationship Type="http://schemas.openxmlformats.org/officeDocument/2006/relationships/slide" Target="/ppt/slides/slide6.xml" Id="R6bb1e9b8deb94742" /><Relationship Type="http://schemas.openxmlformats.org/officeDocument/2006/relationships/slide" Target="/ppt/slides/slide7.xml" Id="Rb5f863e98f05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0d61dced4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29f3e6c544efb" /><Relationship Type="http://schemas.openxmlformats.org/officeDocument/2006/relationships/notesMaster" Target="/ppt/notesMasters/notesMaster1.xml" Id="Rfee202adce6648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419c994c734ff6" /><Relationship Type="http://schemas.openxmlformats.org/officeDocument/2006/relationships/notesMaster" Target="/ppt/notesMasters/notesMaster1.xml" Id="R9e9c3149decc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b9f1d11604a07" /><Relationship Type="http://schemas.openxmlformats.org/officeDocument/2006/relationships/notesMaster" Target="/ppt/notesMasters/notesMaster1.xml" Id="Rdc8033497cca43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ca675418cd4127" /><Relationship Type="http://schemas.openxmlformats.org/officeDocument/2006/relationships/notesMaster" Target="/ppt/notesMasters/notesMaster1.xml" Id="R9474166296ee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27108746eb495b" /><Relationship Type="http://schemas.openxmlformats.org/officeDocument/2006/relationships/notesMaster" Target="/ppt/notesMasters/notesMaster1.xml" Id="R516d12d90f194c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b587f20a114ac9" /><Relationship Type="http://schemas.openxmlformats.org/officeDocument/2006/relationships/notesMaster" Target="/ppt/notesMasters/notesMaster1.xml" Id="R5dc1cd270bda4a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e96614756146b2" /><Relationship Type="http://schemas.openxmlformats.org/officeDocument/2006/relationships/notesMaster" Target="/ppt/notesMasters/notesMaster1.xml" Id="Raa2af470d39c43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/Users/dmmac/Library/Mobile Documents/iCloud~md~obsidian/Documents/MyBrain/00-Projects/casetra_active/casetra-site-xserver/index.html</a:t>
            </a:r>
          </a:p>
          <a:p xmlns:a="http://schemas.openxmlformats.org/drawingml/2006/main">
            <a:r>
              <a:t>- /Users/dmmac/Library/Mobile Documents/iCloud~md~obsidian/Documents/MyBrain/00-Projects/casetra_active/kiduki-consult-api/config/billingPlans.v1.json</a:t>
            </a:r>
          </a:p>
          <a:p xmlns:a="http://schemas.openxmlformats.org/drawingml/2006/main">
            <a:r>
              <a:t>- https://casetra.jp/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Documents/iCloud~md~obsidian/Documents/MyBrain/00-Projects/casetra_active/casetra-site-xserver/index.html</a:t>
            </a:r>
          </a:p>
          <a:p xmlns:a="http://schemas.openxmlformats.org/drawingml/2006/main">
            <a:r>
              <a:t>- https://casetra.jp/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Documents/iCloud~md~obsidian/Documents/MyBrain/00-Projects/casetra_active/casetra-site-xserver/index.html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/Users/dmmac/Library/Mobile Documents/iCloud~md~obsidian/Documents/MyBrain/00-Projects/casetra_active/casetra-site-xserver/index.html</a:t>
            </a:r>
          </a:p>
          <a:p xmlns:a="http://schemas.openxmlformats.org/drawingml/2006/main">
            <a:r>
              <a:t>- /Users/dmmac/Library/Mobile Documents/iCloud~md~obsidian/Documents/MyBrain/00-Projects/casetra_active/kiduki-consult-api/config/billingPlans.v1.json</a:t>
            </a:r>
          </a:p>
          <a:p xmlns:a="http://schemas.openxmlformats.org/drawingml/2006/main">
            <a:r>
              <a:t>- https://casetra.jp/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/Users/dmmac/Library/Mobile Documents/iCloud~md~obsidian/Documents/MyBrain/00-Projects/casetra_active/kiduki-consult-api/docs/runbooks/casetra_plans_and_cloudsign_strategy.md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https://casetra.jp/</a:t>
            </a:r>
          </a:p>
          <a:p xmlns:a="http://schemas.openxmlformats.org/drawingml/2006/main">
            <a:r>
              <a:t>- https://consult.casetra.jp/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f8066aee84f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d236a85f694f5e" /><Relationship Type="http://schemas.openxmlformats.org/officeDocument/2006/relationships/slideLayout" Target="/ppt/slideLayouts/slideLayout1.xml" Id="Rfac33f4aafd44c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33f4aafd44c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59bbcc6f745c4" /><Relationship Type="http://schemas.openxmlformats.org/officeDocument/2006/relationships/notesSlide" Target="/ppt/notesSlides/notesSlide1.xml" Id="R2ec4abad468e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d2ed562154da2" /><Relationship Type="http://schemas.openxmlformats.org/officeDocument/2006/relationships/notesSlide" Target="/ppt/notesSlides/notesSlide2.xml" Id="R1e36c300b526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0848b422d497a" /><Relationship Type="http://schemas.openxmlformats.org/officeDocument/2006/relationships/notesSlide" Target="/ppt/notesSlides/notesSlide3.xml" Id="Re236943219da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33ee858764adb" /><Relationship Type="http://schemas.openxmlformats.org/officeDocument/2006/relationships/notesSlide" Target="/ppt/notesSlides/notesSlide4.xml" Id="R7f1b6f9f9bf840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fe43f8e9645f3" /><Relationship Type="http://schemas.openxmlformats.org/officeDocument/2006/relationships/notesSlide" Target="/ppt/notesSlides/notesSlide5.xml" Id="Rb35ad723486e4d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16cb5a26f42dd" /><Relationship Type="http://schemas.openxmlformats.org/officeDocument/2006/relationships/notesSlide" Target="/ppt/notesSlides/notesSlide6.xml" Id="Ra95c46bb47834e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9410435f0435c" /><Relationship Type="http://schemas.openxmlformats.org/officeDocument/2006/relationships/notesSlide" Target="/ppt/notesSlides/notesSlide7.xml" Id="Rdb440152c7b043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6AF86-F596-450B-A85B-569FDC7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A7A4A-A488-40BF-8060-5740726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  /  PLATFORM GUIDE 2026.08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F3E83-6AED-4815-B853-DA3E16E1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429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産業保健の案件を、</a:t>
            </a:r>
          </a:p>
          <a:p xmlns:a="http://schemas.openxmlformats.org/drawingml/2006/main">
            <a:pPr algn="l">
              <a:def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証跡つきで完了へ。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5A9C-4615-4093-8133-949DB622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Case、予約、期限、意思決定、再評価をひとつの流れで管理する企業向けプラットフォーム。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CFB40-CC5E-4398-8C17-F4F4F19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D35C-8F41-4DFE-A9E5-6EFD99E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0125"/>
            <a:ext cx="1781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産業医対応の Case 管理 OS</a:t>
            </a:r>
          </a:p>
        </p:txBody>
      </p:sp>
    </p:spTree>
    <p:extLst>
      <p:ext uri="{BB962C8B-B14F-4D97-AF65-F5344CB8AC3E}">
        <p14:creationId xmlns:p14="http://schemas.microsoft.com/office/powerpoint/2010/main" val="15471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4E2F7-D57D-429E-9FD1-796F56C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04D41-21F3-4B63-ACD9-5899275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健康情報を保存するだけでは、案件は完了しません。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5FCF3-D702-45DF-83A4-2D4FBC15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40758-E0FD-4738-9785-E0B2C3D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9F5B7-14D7-435D-B2CF-8973DF3C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11B97-D8B4-4916-B241-234D163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237A0-286F-47E5-BE1D-60FCAB0F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次の一手が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見えない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4770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4D3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03B8F-9337-496E-BD97-21ECCB7F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メール・口頭・Excelに情報が散らばり、誰待ちなのか分からない。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A4785-937B-4A6E-8AB0-C694BE6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F1F5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644F9-9313-421D-91FA-05F1F90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04B07-FBA2-4842-80A7-2265F4C8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期限が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追えない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5295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4D3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E1157-5869-472F-835C-774CEE4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面談、意見、措置、再評価の期限が別管理で、抜け漏れが起きる。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742AF-5489-48FF-A803-033BC00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F6FF7-A83C-486E-9A13-ABA34EA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BF6A0-E9E7-45B3-AF1E-52799398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説明できる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証跡がない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45820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4D3A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ED636-4AD8-4DCA-80D8-9158734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誰が、いつ、何を根拠に決めたかを後から一続きで出せない。</a:t>
            </a:r>
          </a:p>
        </p:txBody>
      </p:sp>
    </p:spTree>
    <p:extLst>
      <p:ext uri="{BB962C8B-B14F-4D97-AF65-F5344CB8AC3E}">
        <p14:creationId xmlns:p14="http://schemas.microsoft.com/office/powerpoint/2010/main" val="729340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77CD1-F0A9-4680-A488-DD71D06F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BFD3-7832-4BC4-B1F2-A317B40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Caseを起票した瞬間から、完了条件まで追跡。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869D3-034C-40B9-8AA1-EA9472E0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B22C6-6C37-4A2D-A37D-DD022C6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742950" y="31813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4D3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EB0ED-8DC3-4B67-ADF1-739DF3F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01 /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5727-4703-4ACF-809C-8C4DC9AA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24FAB-6349-4ED6-981E-31A85702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起票・同意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78A06-A887-4261-B16E-8E5BC03B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案件種別、責任者、必要情報、同意範囲を最初に揃えます。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44F3B-3DCC-4042-99E7-ED0F880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02 / EXECUTE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DF7FC-97BC-49BB-A5F7-E108E65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C0FAE-5D18-4792-A00D-0B24038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予約・実行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771EE-4949-4BB6-99DD-1E1E38AA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予約、面談、文書、差戻し、期限を一つのCaseで進行管理します。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5EC06-AD6A-46AD-AB2F-FFB87DA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03 / 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E5147-64A7-4213-89DD-18ED1A1F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DDFB6-9578-43D6-95B7-99BC5850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決定・証跡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254DA-A281-44C7-9D58-4C230DD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措置と再評価日を確定し、Decision Packとして出力・保管します。</a:t>
            </a:r>
          </a:p>
        </p:txBody>
      </p:sp>
    </p:spTree>
    <p:extLst>
      <p:ext uri="{BB962C8B-B14F-4D97-AF65-F5344CB8AC3E}">
        <p14:creationId xmlns:p14="http://schemas.microsoft.com/office/powerpoint/2010/main" val="123761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7CEE7-FA77-40EF-BD15-0D6A6BD1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B3BB9-584A-4911-A1BE-4B13E02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利用量に合わせた3つの月額プラン。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F966-81C7-4642-A583-A387915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56A21-E961-4C33-8E7F-AE6C01F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B4B31-B2F9-4AC0-A495-869A163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B986B-FA49-4E0A-B58A-9756AA25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STARTER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E2EBB-07BB-4AE4-9F32-B87755E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小規模・低頻度利用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8311A-B5EE-4463-ADC0-5D36136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40,000円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D745B-3692-472B-9FB5-E833214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月額基本料 / 税別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6675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24118-6393-4830-8613-3435752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 4件｜超過 4,000円</a:t>
            </a:r>
          </a:p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予約 4件｜超過 5,000円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C3D5A-1CD0-426D-BF85-60CEC65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10A4D-DD98-4F0A-BF83-10546E0E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0F81C-A856-422A-9017-9AB2B23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rPr>
              <a:t>標準・推奨プラン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634CC-5CA8-4BEF-8256-175F7660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60,000円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130E6-810C-4639-891E-649CBC3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rPr>
              <a:t>月額基本料 / 税別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27D6B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61C0F-6FAF-4B74-8273-BFF9188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Case 11件｜超過 3,000円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予約 9件｜超過 4,000円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6B579-1230-49FC-B1CC-637A707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28940-E914-4736-B6B1-DCB28F6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PLUS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B7D5B-ABD3-4F48-8FD0-6D3AD246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高頻度・中規模以上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E377F-651C-4C57-BA96-C9157245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99,000円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9319D-1924-422B-BE9F-B7BC446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月額基本料 / 税別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47725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2C436-B51F-4EB5-B1BC-9209415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 18件｜超過 2,000円</a:t>
            </a:r>
          </a:p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予約 18件｜超過 3,000円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032FE-9714-494A-A797-1B4A7795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※初期費用は無料。オンボーディング支援は別途オプション（100,000円・税別）。</a:t>
            </a:r>
          </a:p>
        </p:txBody>
      </p:sp>
    </p:spTree>
    <p:extLst>
      <p:ext uri="{BB962C8B-B14F-4D97-AF65-F5344CB8AC3E}">
        <p14:creationId xmlns:p14="http://schemas.microsoft.com/office/powerpoint/2010/main" val="1807403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522E4-5CB2-4766-B2CD-D278DFA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BILLING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1D880-6F19-495B-B965-54A2B99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システム利用料と、医師業務は分けて明示します。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5E96B-2DE6-4EB7-A0A8-15A60B9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3075-FD71-4A2D-88CE-3627781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F068C-A751-471F-B666-4423BE7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F1F5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2A8AC-542C-41B1-97BB-1C411B60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CBC06-8090-45BF-A06F-E34BAAB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6C3E-F1CD-4EA1-A06C-3A7258F1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95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月額基本料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Case枠・予約枠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超過利用料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企業ポータル・証跡管理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77E53-18ED-447C-9EC6-7292EE0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KIDUKI Professional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FD7-608F-4C87-ADAD-5F56037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4095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面談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人事フィードバック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意見書・照会文書</a:t>
            </a:r>
          </a:p>
          <a:p xmlns:a="http://schemas.openxmlformats.org/drawingml/2006/main">
            <a:pPr algn="l">
              <a:def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産業医としての判断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467350" y="35433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F47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AB791-CB21-4E21-B087-70D71E7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別契約・別請求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B644A-DD5C-41F2-A89F-5E7D3094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960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システム利用料に医師業務は自動では含まれません。必要なときだけKIDUKIへ依頼できます。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607180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39033-B817-4C4D-A863-C9ADEC80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COMBINATION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569C-8A27-4224-9BBD-6CAC853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KIDUKIと組み合わせる場合も、契約はシンプルに。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32CEB-9E17-49B6-BD72-FA11654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A9025-A532-4F54-9094-96BA9C1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F1A3B-3841-4796-B772-2049A05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39814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67D59-4299-4E8F-AFBE-032D126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830B0-3F41-4BBC-8E14-771414BD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CASETRAのみ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ABF5D-A3C3-4D70-9102-D02EA1C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028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自社の人事・産業医で運用。</a:t>
            </a:r>
          </a:p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KIDUKI業務は必要時のみ契約者料金。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66750" y="47625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9CD28-5EAB-4613-A6FC-85DF6CB1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40,000円〜 / 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F3C38-EF18-4CE9-BEB5-986C69CD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9814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1E8E6-DF3D-43E8-B881-7F4AE27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25D10-6E88-4F4E-913E-2BAA1E0A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Retain＋CASETRA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41174-6C74-4F11-9ADE-87C3C682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028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選任・定期業務と自社ポータルを併用。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CASETRA基本料を一律2万円引き。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0" y="47625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27D6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20749-35AF-44BF-A3F5-F9CFCD8E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例：Retain 120＋Starter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185,000円＋20,000円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BE7E4-D37E-4354-85D1-C657FE9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39814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84B68-19AD-4198-BC54-7383DC3C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8B6F47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46965-DD49-437A-A81E-E3527F7A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KIDUKI Basic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94687-8995-4678-85D5-F43B4B0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3028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システム契約をしない企業向け。</a:t>
            </a:r>
          </a:p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KIDUKIがCASETRAを内部利用。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477250" y="47625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0F5E-AEBF-47FF-AD51-6BFAC82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40,000円 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EC9A2-1A30-4D74-A221-FA873072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BasicとCASETRAは原則として重ねません。</a:t>
            </a:r>
          </a:p>
        </p:txBody>
      </p:sp>
    </p:spTree>
    <p:extLst>
      <p:ext uri="{BB962C8B-B14F-4D97-AF65-F5344CB8AC3E}">
        <p14:creationId xmlns:p14="http://schemas.microsoft.com/office/powerpoint/2010/main" val="1332538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D9872-801B-4A08-8818-E403F2A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A3AD3-1B9B-4842-8595-B9FBFA40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CASETRA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5B909-4D31-4CE0-8CF5-DEFFECB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まずは、</a:t>
            </a:r>
          </a:p>
          <a:p xmlns:a="http://schemas.openxmlformats.org/drawingml/2006/main">
            <a:pPr algn="l">
              <a:def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月間Case数を確認。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6A43A-F8A4-4305-9E45-7179F19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現在の案件量、予約件数、運用主体を15分で確認し、最小のプランから設計します。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0FEA9-2471-4677-A2AE-E638FE3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3257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4D3A"/>
          </a:solidFill>
          <a:ln xmlns:a="http://schemas.openxmlformats.org/drawingml/2006/main" w="0">
            <a:solidFill>
              <a:srgbClr val="1A4D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6D62D-F0D6-4E0B-9C24-53C87916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15分無料相談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B645-AF0C-4AFE-B02B-E39869C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A4D3A"/>
                </a:solidFill>
                <a:latin typeface="Hiragino Kaku Gothic ProN"/>
                <a:ea typeface="Hiragino Kaku Gothic ProN"/>
                <a:cs typeface="Hiragino Kaku Gothic ProN"/>
              </a:rPr>
              <a:t>https://consult.casetra.jp/</a:t>
            </a:r>
          </a:p>
        </p:txBody>
      </p:sp>
    </p:spTree>
    <p:extLst>
      <p:ext uri="{BB962C8B-B14F-4D97-AF65-F5344CB8AC3E}">
        <p14:creationId xmlns:p14="http://schemas.microsoft.com/office/powerpoint/2010/main" val="1237219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2026-08-05T23:36:10.4320000Z</dcterms:created>
  <dcterms:modified xsi:type="dcterms:W3CDTF">2026-08-05T23:36:10.4320000Z</dcterms:modified>
</coreProperties>
</file>