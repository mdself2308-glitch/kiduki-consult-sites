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e623b0ea2c4c6f" /><Relationship Type="http://schemas.openxmlformats.org/officeDocument/2006/relationships/extended-properties" Target="/docProps/app.xml" Id="R1412fb508ab0452e" /><Relationship Type="http://schemas.openxmlformats.org/officeDocument/2006/relationships/officeDocument" Target="/ppt/presentation.xml" Id="R520608ef142a43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2ba25235aa42b4"/>
  </p:sldMasterIdLst>
  <p:notesMasterIdLst>
    <p:notesMasterId xmlns:r="http://schemas.openxmlformats.org/officeDocument/2006/relationships" r:id="R44fa2ead7ecd4257"/>
  </p:notesMasterIdLst>
  <p:sldIdLst>
    <p:sldId xmlns:r="http://schemas.openxmlformats.org/officeDocument/2006/relationships" id="256" r:id="R9ba25ae03312499c"/>
    <p:sldId xmlns:r="http://schemas.openxmlformats.org/officeDocument/2006/relationships" id="257" r:id="Rcafa789257884347"/>
    <p:sldId xmlns:r="http://schemas.openxmlformats.org/officeDocument/2006/relationships" id="258" r:id="Reed49582ae484905"/>
    <p:sldId xmlns:r="http://schemas.openxmlformats.org/officeDocument/2006/relationships" id="259" r:id="R1e109231c9714a89"/>
    <p:sldId xmlns:r="http://schemas.openxmlformats.org/officeDocument/2006/relationships" id="260" r:id="R3b425698db9b4966"/>
    <p:sldId xmlns:r="http://schemas.openxmlformats.org/officeDocument/2006/relationships" id="261" r:id="R21c9d2c195ca476e"/>
    <p:sldId xmlns:r="http://schemas.openxmlformats.org/officeDocument/2006/relationships" id="262" r:id="R70a1839c2c9d40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db12e8cd2a45ed" /><Relationship Type="http://schemas.openxmlformats.org/officeDocument/2006/relationships/slideMaster" Target="/ppt/slideMasters/slideMaster1.xml" Id="R832ba25235aa42b4" /><Relationship Type="http://schemas.openxmlformats.org/officeDocument/2006/relationships/notesMaster" Target="/ppt/notesMasters/notesMaster1.xml" Id="R44fa2ead7ecd4257" /><Relationship Type="http://schemas.openxmlformats.org/officeDocument/2006/relationships/presProps" Target="/ppt/presProps.xml" Id="Rcf2cff95ca3c439c" /><Relationship Type="http://schemas.openxmlformats.org/officeDocument/2006/relationships/tableStyles" Target="/ppt/tableStyles.xml" Id="Re5c2f44d5f7d42dc" /><Relationship Type="http://schemas.openxmlformats.org/officeDocument/2006/relationships/slide" Target="/ppt/slides/slide1.xml" Id="R9ba25ae03312499c" /><Relationship Type="http://schemas.openxmlformats.org/officeDocument/2006/relationships/slide" Target="/ppt/slides/slide2.xml" Id="Rcafa789257884347" /><Relationship Type="http://schemas.openxmlformats.org/officeDocument/2006/relationships/slide" Target="/ppt/slides/slide3.xml" Id="Reed49582ae484905" /><Relationship Type="http://schemas.openxmlformats.org/officeDocument/2006/relationships/slide" Target="/ppt/slides/slide4.xml" Id="R1e109231c9714a89" /><Relationship Type="http://schemas.openxmlformats.org/officeDocument/2006/relationships/slide" Target="/ppt/slides/slide5.xml" Id="R3b425698db9b4966" /><Relationship Type="http://schemas.openxmlformats.org/officeDocument/2006/relationships/slide" Target="/ppt/slides/slide6.xml" Id="R21c9d2c195ca476e" /><Relationship Type="http://schemas.openxmlformats.org/officeDocument/2006/relationships/slide" Target="/ppt/slides/slide7.xml" Id="R70a1839c2c9d40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d2a3c4802246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f49fa979854edf" /><Relationship Type="http://schemas.openxmlformats.org/officeDocument/2006/relationships/notesMaster" Target="/ppt/notesMasters/notesMaster1.xml" Id="R9b42e67aee424c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e8cdc8516844e5" /><Relationship Type="http://schemas.openxmlformats.org/officeDocument/2006/relationships/notesMaster" Target="/ppt/notesMasters/notesMaster1.xml" Id="R196aab1fd91643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52ff6aa5b047e6" /><Relationship Type="http://schemas.openxmlformats.org/officeDocument/2006/relationships/notesMaster" Target="/ppt/notesMasters/notesMaster1.xml" Id="Re623131a3f8c4e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a7cda6d3894d9c" /><Relationship Type="http://schemas.openxmlformats.org/officeDocument/2006/relationships/notesMaster" Target="/ppt/notesMasters/notesMaster1.xml" Id="Re8dcc5cdcbab44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7a58c96f134394" /><Relationship Type="http://schemas.openxmlformats.org/officeDocument/2006/relationships/notesMaster" Target="/ppt/notesMasters/notesMaster1.xml" Id="Rfc71cf70f75146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887ea6439843d8" /><Relationship Type="http://schemas.openxmlformats.org/officeDocument/2006/relationships/notesMaster" Target="/ppt/notesMasters/notesMaster1.xml" Id="Rf2202f86dac546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abd122c85642f3" /><Relationship Type="http://schemas.openxmlformats.org/officeDocument/2006/relationships/notesMaster" Target="/ppt/notesMasters/notesMaster1.xml" Id="Rb3de1c02354b4a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Documents/iCloud~md~obsidian/Documents/MyBrain/00-Projects/kdk-wordpress/kiduki/docs/pricing-growth-canonical.md</a:t>
            </a:r>
          </a:p>
          <a:p xmlns:a="http://schemas.openxmlformats.org/drawingml/2006/main">
            <a:r>
              <a:t>- /Users/dmmac/Library/Mobile Documents/iCloud~md~obsidian/Documents/MyBrain/00-Projects/kdk-wordpress/consult/index.html</a:t>
            </a:r>
          </a:p>
          <a:p xmlns:a="http://schemas.openxmlformats.org/drawingml/2006/main">
            <a:r>
              <a:t>- https://consult.kdkconslt-sngyouijm.com/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Documents/iCloud~md~obsidian/Documents/MyBrain/00-Projects/kdk-wordpress/kiduki/docs/pricing-growth-canonical.md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Documents/iCloud~md~obsidian/Documents/MyBrain/00-Projects/kdk-wordpress/kiduki/docs/pricing-growth-canonical.md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Documents/iCloud~md~obsidian/Documents/MyBrain/00-Projects/kdk-wordpress/kiduki/docs/pricing-growth-canonical.md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Documents/iCloud~md~obsidian/Documents/MyBrain/00-Projects/kdk-wordpress/kiduki/docs/pricing-growth-canonical.md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Documents/iCloud~md~obsidian/Documents/MyBrain/00-Projects/kdk-wordpress/kiduki/docs/pricing-growth-canonical.md</a:t>
            </a:r>
          </a:p>
          <a:p xmlns:a="http://schemas.openxmlformats.org/drawingml/2006/main">
            <a:r>
              <a:t>- /Users/dmmac/Library/Mobile Documents/iCloud~md~obsidian/Documents/MyBrain/00-Projects/casetra_active/kiduki-consult-api/seeds/billing/charge_catalog_v1.json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/Users/dmmac/Library/Mobile Documents/iCloud~md~obsidian/Documents/MyBrain/00-Projects/kdk-wordpress/kiduki/docs/pricing-growth-canonical.md</a:t>
            </a:r>
          </a:p>
          <a:p xmlns:a="http://schemas.openxmlformats.org/drawingml/2006/main">
            <a:r>
              <a:t>- https://consult.kdkconslt-sngyouijm.com/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afc173de14f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ccf94acb424c67" /><Relationship Type="http://schemas.openxmlformats.org/officeDocument/2006/relationships/slideLayout" Target="/ppt/slideLayouts/slideLayout1.xml" Id="R9a8d45c5628846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8d45c5628846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80d86b9ab4370" /><Relationship Type="http://schemas.openxmlformats.org/officeDocument/2006/relationships/notesSlide" Target="/ppt/notesSlides/notesSlide1.xml" Id="R8d61f07004264b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5a969e26a478e" /><Relationship Type="http://schemas.openxmlformats.org/officeDocument/2006/relationships/notesSlide" Target="/ppt/notesSlides/notesSlide2.xml" Id="R8f6869700d2842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b3dd0133c4f4b" /><Relationship Type="http://schemas.openxmlformats.org/officeDocument/2006/relationships/notesSlide" Target="/ppt/notesSlides/notesSlide3.xml" Id="R1d7dd9c0e91d4b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bb21885854eb0" /><Relationship Type="http://schemas.openxmlformats.org/officeDocument/2006/relationships/notesSlide" Target="/ppt/notesSlides/notesSlide4.xml" Id="Rbe3cb41c1d474b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7c2aaeb5e4ab0" /><Relationship Type="http://schemas.openxmlformats.org/officeDocument/2006/relationships/notesSlide" Target="/ppt/notesSlides/notesSlide5.xml" Id="Rb0beea97e0d441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744cb996448d6" /><Relationship Type="http://schemas.openxmlformats.org/officeDocument/2006/relationships/notesSlide" Target="/ppt/notesSlides/notesSlide6.xml" Id="R4c896a79f18a44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b9e06361949d6" /><Relationship Type="http://schemas.openxmlformats.org/officeDocument/2006/relationships/notesSlide" Target="/ppt/notesSlides/notesSlide7.xml" Id="Rab3f37cf211345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FC1E9-15AB-41D8-8424-414C480D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30"/>
          </a:solidFill>
          <a:ln xmlns:a="http://schemas.openxmlformats.org/drawingml/2006/main" w="0">
            <a:solidFill>
              <a:srgbClr val="1D3A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3D631-42FD-4F38-86C3-8B48A4E2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KIDUKI  /  SERVICE GUIDE 2026.08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44C37-4EFF-4EDB-A3BE-0D8119D5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9429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休職・復職・就業継続支援を、</a:t>
            </a:r>
          </a:p>
          <a:p xmlns:a="http://schemas.openxmlformats.org/drawingml/2006/main">
            <a:pPr algn="l">
              <a:defRPr sz="46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判断から再評価まで。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FCDB8-08FA-49EE-8962-59DDD449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人事の調整、医師の判断、実施後のフォローを、ひとつの案件として完了へ導きます。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EF2B4-DA4E-4209-A6E3-1DBDFE0C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339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D3A30"/>
          </a:solidFill>
          <a:ln xmlns:a="http://schemas.openxmlformats.org/drawingml/2006/main" w="0">
            <a:solidFill>
              <a:srgbClr val="1D3A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A5A28-6C10-45D5-9603-D59B2A6C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10125"/>
            <a:ext cx="1781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東京KIDUKIコンサルティング産業医事務所</a:t>
            </a:r>
          </a:p>
        </p:txBody>
      </p:sp>
    </p:spTree>
    <p:extLst>
      <p:ext uri="{BB962C8B-B14F-4D97-AF65-F5344CB8AC3E}">
        <p14:creationId xmlns:p14="http://schemas.microsoft.com/office/powerpoint/2010/main" val="675349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0057C-95C5-4D3E-8A9E-3F9E31D0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E0E2B-BAEA-40F5-BFB1-845C7B62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「復職可否」だけでは、案件は終わりません。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99BD6-ED07-48EE-B421-43C4FC75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KIDUKI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C32F9-F2CD-414A-BBAB-A04FB649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65553-A640-486D-9CAA-B50DC8B7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35814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0DDD3-C419-4CFE-B532-F971B52E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7A5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3F7A5E"/>
                </a:solidFill>
                <a:latin typeface="Hiragino Kaku Gothic ProN"/>
                <a:ea typeface="Hiragino Kaku Gothic ProN"/>
                <a:cs typeface="Hiragino Kaku Gothic ProN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4AC4A-8E1A-4F1E-8F3C-71AE1AEB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40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判断材料が</a:t>
            </a:r>
          </a:p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揃わない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647700" y="40671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D3A30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9967F-2930-4D8A-BBF8-CD0432F6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勤務情報、主治医情報、本人の状態が別々で、判断までに往復が増える。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66CE6-5687-4B7F-95A2-E7764C74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35814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0">
            <a:solidFill>
              <a:srgbClr val="EEF5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1FDCB-DB30-40E6-A175-9C71974B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908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7A5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3F7A5E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DA6B7-68CC-4EB1-98D6-F9E80A2E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40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措置が</a:t>
            </a:r>
          </a:p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曖昧になる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552950" y="40671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D3A3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C51C7-A95E-490A-9C3B-80957017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434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配慮内容・開始日・期限・解除条件が一枚にまとまらず、現場が動けない。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4A642-01CD-40E3-A22B-4B7518C8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35814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F8B1D-05F2-4FBD-89DA-0E36A431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908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7A5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3F7A5E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0E632-49AE-47DC-B39F-A41EFF7C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40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再評価が</a:t>
            </a:r>
          </a:p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抜ける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8458200" y="40671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D3A30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AF41E-6480-4C87-9938-612ECCDA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復職後の確認日と責任者が曖昧なまま、案件が開きっぱなしになる。</a:t>
            </a:r>
          </a:p>
        </p:txBody>
      </p:sp>
    </p:spTree>
    <p:extLst>
      <p:ext uri="{BB962C8B-B14F-4D97-AF65-F5344CB8AC3E}">
        <p14:creationId xmlns:p14="http://schemas.microsoft.com/office/powerpoint/2010/main" val="2141084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BDF80-B9AA-4030-A597-123B20BD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D8617-5C0A-40BF-BA70-23C05F94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1件を、判断 → 実行 → 再評価まで閉じます。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E8FAD-FB39-4866-A983-2243C68B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KIDUKI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57966-B052-41BE-B0E9-EE24D045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742950" y="31813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3A3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5EA5D-12B1-4BAC-9D97-229F9B86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7A5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3F7A5E"/>
                </a:solidFill>
                <a:latin typeface="Hiragino Kaku Gothic ProN"/>
                <a:ea typeface="Hiragino Kaku Gothic ProN"/>
                <a:cs typeface="Hiragino Kaku Gothic ProN"/>
              </a:rPr>
              <a:t>01 /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E73CE-4A50-44AD-80B2-ADBD92D9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30"/>
          </a:solidFill>
          <a:ln xmlns:a="http://schemas.openxmlformats.org/drawingml/2006/main" w="0">
            <a:solidFill>
              <a:srgbClr val="1D3A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81537-3AEA-4A45-901B-4DA1E55F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情報を揃える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CD142-C72A-425C-8DEA-6A03C5DD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勤務情報・主治医情報・本人同意を整理。差戻しを減らします。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EE63A-0C30-4B15-B35C-CDCD2700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7A5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3F7A5E"/>
                </a:solidFill>
                <a:latin typeface="Hiragino Kaku Gothic ProN"/>
                <a:ea typeface="Hiragino Kaku Gothic ProN"/>
                <a:cs typeface="Hiragino Kaku Gothic ProN"/>
              </a:rPr>
              <a:t>02 / ASSESS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F7F91-09B7-4047-87AC-CE94B6CE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30"/>
          </a:solidFill>
          <a:ln xmlns:a="http://schemas.openxmlformats.org/drawingml/2006/main" w="0">
            <a:solidFill>
              <a:srgbClr val="1D3A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E9B48-827F-465B-B40A-F1D3497A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面談・評価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EE8BF-5825-4443-9514-242018D4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心身状態と生活リズム、就業条件を評価。生データは企業へ出しません。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D56DA-9190-48CD-9BB4-16EC4040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7A5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3F7A5E"/>
                </a:solidFill>
                <a:latin typeface="Hiragino Kaku Gothic ProN"/>
                <a:ea typeface="Hiragino Kaku Gothic ProN"/>
                <a:cs typeface="Hiragino Kaku Gothic ProN"/>
              </a:rPr>
              <a:t>03 / CLOSE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1BC9B-DF4F-4ABD-B52A-3787D863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30"/>
          </a:solidFill>
          <a:ln xmlns:a="http://schemas.openxmlformats.org/drawingml/2006/main" w="0">
            <a:solidFill>
              <a:srgbClr val="1D3A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E68B0-120E-4E93-B8B0-B2E16674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意見・追跡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F848E-6B2B-4C8B-B62C-6DD46084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措置、開始日、再評価日、解除条件を明示し、完了まで追跡します。</a:t>
            </a:r>
          </a:p>
        </p:txBody>
      </p:sp>
    </p:spTree>
    <p:extLst>
      <p:ext uri="{BB962C8B-B14F-4D97-AF65-F5344CB8AC3E}">
        <p14:creationId xmlns:p14="http://schemas.microsoft.com/office/powerpoint/2010/main" val="1375778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375BC2-0954-4E08-9D1E-2B0C4268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PRICING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CC5E1-B43A-4BF2-8216-7B8691E0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入口は1件。必要になったら月額へ。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C8DDA-765B-4540-B60A-86EA7D62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KIDUKI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A1A1C-D6C4-44DE-8285-5F2239B9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27440-0B48-4E77-A202-64BE346C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581400" cy="40576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7C860-9BC4-4206-9DFE-7C12D68C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復職支援 Pack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59445-0910-4AFA-99AF-87C12B35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月額契約なし・1件完結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D150D-DF83-4327-AD86-E8CB3DFD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7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150,000円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1E5C3-4581-4693-865D-36496F55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1件 / 固定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666750" y="417195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6193F-7534-4CE3-A2EC-5B83BCCA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面談3回、主治医照会、人事FB、意見書、客観的生活リズム評価、Decision Pack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EEDD5-D7DF-446F-B2F4-7903FCF9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81400" cy="40576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1D3A30"/>
          </a:solidFill>
          <a:ln xmlns:a="http://schemas.openxmlformats.org/drawingml/2006/main" w="0">
            <a:solidFill>
              <a:srgbClr val="1D3A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71C47-7AD7-4B08-A33A-1EC3D03C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KIDUKI Basic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348BB-8E9E-478E-B526-965A84D7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BE4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DDEBE4"/>
                </a:solidFill>
                <a:latin typeface="Hiragino Kaku Gothic ProN"/>
                <a:ea typeface="Hiragino Kaku Gothic ProN"/>
                <a:cs typeface="Hiragino Kaku Gothic ProN"/>
              </a:rPr>
              <a:t>選任不要・専門補完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CCC70-12B1-43A7-BDDE-6574A03F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7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40,000円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92A75-D7CA-4788-8E35-EE18CDBD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BE4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DDEBE4"/>
                </a:solidFill>
                <a:latin typeface="Hiragino Kaku Gothic ProN"/>
                <a:ea typeface="Hiragino Kaku Gothic ProN"/>
                <a:cs typeface="Hiragino Kaku Gothic ProN"/>
              </a:rPr>
              <a:t>月額 / 月30分を含む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572000" y="417195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27D6B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F849A5-ABC9-43D1-AAC3-9D89BCA4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継続相談窓口と対応枠。既存産業医がいる企業は休復職・睡眠・メンタルを専門補完。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59C7B-4FAA-413C-BA2C-AB097456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3581400" cy="40576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01D51-6AAA-4428-9C77-5DAB89F5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KIDUKI Retain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4A807D-DF05-4F03-8985-F376185A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選任産業医・定期対応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78885-A01A-47B6-8561-FA6FA0FA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7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100,000円〜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87070-BB7E-4EE9-83ED-C47BCD85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Retain 60 / Retain 120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8477250" y="417195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0F1BD-0E19-42DD-B94E-810341EF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月60分 100,000円</a:t>
            </a:r>
          </a:p>
          <a:p xmlns:a="http://schemas.openxmlformats.org/drawingml/2006/main">
            <a:pPr algn="l">
              <a:def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月120分 185,000円</a:t>
            </a:r>
          </a:p>
          <a:p xmlns:a="http://schemas.openxmlformats.org/drawingml/2006/main">
            <a:pPr algn="l">
              <a:def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選任・定例対応・継続責任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2CA4C1-1A89-4A3F-9159-2B032130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※消費税・実費の取扱いは見積書に明記します。企業規模と契約範囲により個別設計します。</a:t>
            </a:r>
          </a:p>
        </p:txBody>
      </p:sp>
    </p:spTree>
    <p:extLst>
      <p:ext uri="{BB962C8B-B14F-4D97-AF65-F5344CB8AC3E}">
        <p14:creationId xmlns:p14="http://schemas.microsoft.com/office/powerpoint/2010/main" val="963610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42E4E-9D20-4625-988D-3F8B3814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A7574-CE88-4E39-AD24-CC125124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KIDUKIとCASETRAは、買う目的が違います。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7A59A-F4BD-4B78-9E45-6FDBAB1C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KIDUKI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4B8C9-D01F-4C79-829F-463E13B1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19042-6B38-4245-871A-186AC918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人手の支援が必要か、自社でシステムを運用できるかで選びます。重複した月額契約は増やしません。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F6F6A-CECD-4439-8FD8-F7E2015E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55435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ED463-169E-42E6-B708-1E6A217A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KIDUKIを選ぶ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2AF26-7685-4B12-A873-0EAAE872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・人事の相談窓口が必要</a:t>
            </a:r>
          </a:p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・休復職判断を専門補完したい</a:t>
            </a:r>
          </a:p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・選任産業医として継続対応してほしい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CASETRAはKIDUKIが内部利用します。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949CB-43D7-48AE-84D3-DDB618D5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90800"/>
            <a:ext cx="55435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0">
            <a:solidFill>
              <a:srgbClr val="EEF5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74614-0FFA-4E1B-BD2D-63B430D8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765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CASETRAを選ぶ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029E6-CE44-4F2A-A4E8-549FD2FF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3434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・自社の人事／産業医で運用できる</a:t>
            </a:r>
          </a:p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・Case、予約、期限、証跡を一元管理したい</a:t>
            </a:r>
          </a:p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・医師業務は必要時だけ外注したい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Basicとの標準併売はしません。</a:t>
            </a:r>
          </a:p>
        </p:txBody>
      </p:sp>
    </p:spTree>
    <p:extLst>
      <p:ext uri="{BB962C8B-B14F-4D97-AF65-F5344CB8AC3E}">
        <p14:creationId xmlns:p14="http://schemas.microsoft.com/office/powerpoint/2010/main" val="412863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DFB1C7-CCA9-4BE7-839B-D63130AB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CONTRACT CUSTOMER RATES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F9806-CCA8-4A6C-99D6-0EDCBFE0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月額契約後は、含有時間を先に充当します。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71AC1-8451-460E-84C8-03E2E48F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KIDUKI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B094F-02A1-4E41-A53D-C81E33EC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5F5B7-9137-443F-94C5-BC5F1B96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7696200" cy="4048125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F77B1-A677-40FE-ABF2-B72ECF31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主なオンライン業務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685800" y="2476500"/>
            <a:ext cx="712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0FC18-9D24-4128-BB25-01AF3A0A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健康相談等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07D1D-2A04-4F9C-A394-8D2E6936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5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20分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CC7F7-A007-4C67-8E35-13659737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05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14,000円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685800" y="3105150"/>
            <a:ext cx="712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810B2-1D3E-4389-8377-59B7B8F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ストレス・その他面談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D5B5D-6E53-4BBB-AFB4-F49E05ED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76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30分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0CAD6-411D-42C9-8E03-F95E0BF3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76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20,000円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685800" y="3676650"/>
            <a:ext cx="712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7B8A4-8D20-4ED7-ADCD-CE50C5C3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復職・体調相談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FEB5B-EC75-4875-8721-0C56368C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40分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4D9AB-4A07-4312-9AD5-719AE57A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48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27,000円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685800" y="4248150"/>
            <a:ext cx="712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3431B-6488-4700-BB4B-3C536F96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人事フィードバック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BC735-4AF0-4278-88FE-3147CDB2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19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15分 / 30分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69F62-2E6E-49C2-A021-B87DBEF1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19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42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10,000円 / 20,000円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685800" y="4819650"/>
            <a:ext cx="712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D9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192A1-5FDD-4D1E-B396-CB557300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診療情報提供依頼書等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425988-0A46-4D5B-A1B4-7963B934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91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1通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3399B3-C63C-43E3-9EBC-2933E212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91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5,000円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61C8A0-F7BA-4442-B51F-6C6620B0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3295650" cy="4048125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1D3A30"/>
          </a:solidFill>
          <a:ln xmlns:a="http://schemas.openxmlformats.org/drawingml/2006/main" w="0">
            <a:solidFill>
              <a:srgbClr val="1D3A3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539EBB-FEDB-4FB9-B435-5B4FCBC7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8120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0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二重請求しない設計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D83306-CD12-490B-82BC-8D0BA031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7241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Basicは月30分、Retainは月60分／120分を先に充当。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CASETRA単独契約には医師時間は含まず、依頼分のみ契約者料金。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客観評価・機器物流等は案件ごとに範囲と実費を見積書へ明記します。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834BA6-842F-42F4-A9BC-8FF858AA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※消費税・実費の取扱いは見積書に明記します。</a:t>
            </a:r>
          </a:p>
        </p:txBody>
      </p:sp>
    </p:spTree>
    <p:extLst>
      <p:ext uri="{BB962C8B-B14F-4D97-AF65-F5344CB8AC3E}">
        <p14:creationId xmlns:p14="http://schemas.microsoft.com/office/powerpoint/2010/main" val="2339280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0C90A-B507-4E89-8EF8-11529CE7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30"/>
          </a:solidFill>
          <a:ln xmlns:a="http://schemas.openxmlformats.org/drawingml/2006/main" w="0">
            <a:solidFill>
              <a:srgbClr val="1D3A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193B5-C47C-4DC5-A17B-BF5E6226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KIDUKI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32681-DCBA-4388-8F8F-C9A4E269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71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3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まずは、</a:t>
            </a:r>
          </a:p>
          <a:p xmlns:a="http://schemas.openxmlformats.org/drawingml/2006/main">
            <a:pPr algn="l">
              <a:defRPr sz="43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350" b="1">
                <a:solidFill>
                  <a:srgbClr val="111513"/>
                </a:solidFill>
                <a:latin typeface="Hiragino Kaku Gothic ProN"/>
                <a:ea typeface="Hiragino Kaku Gothic ProN"/>
                <a:cs typeface="Hiragino Kaku Gothic ProN"/>
              </a:rPr>
              <a:t>いま止まっている1件から。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5AF48-8F0C-4837-B684-463D2C4C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0">
                <a:solidFill>
                  <a:srgbClr val="66706A"/>
                </a:solidFill>
                <a:latin typeface="Hiragino Kaku Gothic ProN"/>
                <a:ea typeface="Hiragino Kaku Gothic ProN"/>
                <a:cs typeface="Hiragino Kaku Gothic ProN"/>
              </a:rPr>
              <a:t>現在の案件と社内体制を15分で確認し、Pack・Basic・Retainのどこから始めるかを整理します。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9EBD4-4AD0-4E31-93D7-7B81131E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0050"/>
            <a:ext cx="32575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D3A30"/>
          </a:solidFill>
          <a:ln xmlns:a="http://schemas.openxmlformats.org/drawingml/2006/main" w="0">
            <a:solidFill>
              <a:srgbClr val="1D3A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8D592-EEBA-4773-9815-AF14EEC2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386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15分無料相談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56146-3D35-4265-8643-E5D9EA21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1D3A30"/>
                </a:solidFill>
                <a:latin typeface="Hiragino Kaku Gothic ProN"/>
                <a:ea typeface="Hiragino Kaku Gothic ProN"/>
                <a:cs typeface="Hiragino Kaku Gothic ProN"/>
              </a:rPr>
              <a:t>https://consult.kdkconslt-sngyouijm.com/</a:t>
            </a:r>
          </a:p>
        </p:txBody>
      </p:sp>
    </p:spTree>
    <p:extLst>
      <p:ext uri="{BB962C8B-B14F-4D97-AF65-F5344CB8AC3E}">
        <p14:creationId xmlns:p14="http://schemas.microsoft.com/office/powerpoint/2010/main" val="2006466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2026-08-05T23:36:08.2480000Z</dcterms:created>
  <dcterms:modified xsi:type="dcterms:W3CDTF">2026-08-05T23:36:08.2480000Z</dcterms:modified>
</coreProperties>
</file>