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-2194560"/>
            <a:ext cx="6035040" cy="6035040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3" name="Shape 1"/>
          <p:cNvSpPr/>
          <p:nvPr/>
        </p:nvSpPr>
        <p:spPr>
          <a:xfrm>
            <a:off x="9921240" y="3246120"/>
            <a:ext cx="3291840" cy="3291840"/>
          </a:xfrm>
          <a:prstGeom prst="ellipse">
            <a:avLst/>
          </a:prstGeom>
          <a:ln w="15875">
            <a:solidFill>
              <a:srgbClr val="DBEA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66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D3A3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KIDUKIコンサルティング産業医事務所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6615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サービスのご案内｜2026年8月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8778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200" b="1" dirty="0">
                <a:solidFill>
                  <a:srgbClr val="1D3A30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判断に根拠を。</a:t>
            </a:r>
            <a:endParaRPr lang="en-US" sz="32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3200" b="1" dirty="0">
                <a:solidFill>
                  <a:srgbClr val="1D3A30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対応に、記録を。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4315968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56615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休職・復職の支援から、日常の産業保健まで。</a:t>
            </a:r>
            <a:endParaRPr lang="en-US" sz="12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56615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産業医の意見が職場で実施されるところまでを、記録の残るかたちでお引き受けします。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59893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B322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東京・新橋｜代表  宮部 大輔（内科専門医・心療内科専門医・労働衛生コンサルタント）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D3A30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事務所のご紹介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6615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働く人の睡眠を専門としながら、産業医の業務全般に対応する産業医事務所です。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709928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35664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名 称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691640" y="1691640"/>
            <a:ext cx="4526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B322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KIDUKIコンサルティング産業医事務所（東京・新橋）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2217420"/>
            <a:ext cx="5577840" cy="0"/>
          </a:xfrm>
          <a:prstGeom prst="line">
            <a:avLst/>
          </a:prstGeom>
          <a:noFill/>
          <a:ln w="9525">
            <a:solidFill>
              <a:srgbClr val="DBEA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304288"/>
            <a:ext cx="960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35664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代 表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91640" y="2286000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B322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宮部 大輔</a:t>
            </a:r>
            <a:endParaRPr lang="en-US" sz="10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B322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内科専門医／心療内科専門医／労働衛生コンサルタント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3049524"/>
            <a:ext cx="5577840" cy="0"/>
          </a:xfrm>
          <a:prstGeom prst="line">
            <a:avLst/>
          </a:prstGeom>
          <a:noFill/>
          <a:ln w="9525">
            <a:solidFill>
              <a:srgbClr val="DBEA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136392"/>
            <a:ext cx="960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35664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体 制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91640" y="3118104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B322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産業医チーム制。担当医師のほか、代表・他の医師も相談に対応します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3881628"/>
            <a:ext cx="5577840" cy="0"/>
          </a:xfrm>
          <a:prstGeom prst="line">
            <a:avLst/>
          </a:prstGeom>
          <a:noFill/>
          <a:ln w="9525">
            <a:solidFill>
              <a:srgbClr val="DBEA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968496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35664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連 携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91640" y="3950208"/>
            <a:ext cx="4526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B322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労働法を専門とする顧問弁護士と連携しています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4475988"/>
            <a:ext cx="5577840" cy="0"/>
          </a:xfrm>
          <a:prstGeom prst="line">
            <a:avLst/>
          </a:prstGeom>
          <a:noFill/>
          <a:ln w="9525">
            <a:solidFill>
              <a:srgbClr val="DBEA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562856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35664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対 応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691640" y="4544568"/>
            <a:ext cx="4526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B322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オンライン・遠隔地の事業場にも対応します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5070348"/>
            <a:ext cx="5577840" cy="0"/>
          </a:xfrm>
          <a:prstGeom prst="line">
            <a:avLst/>
          </a:prstGeom>
          <a:noFill/>
          <a:ln w="9525">
            <a:solidFill>
              <a:srgbClr val="DBEA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5157216"/>
            <a:ext cx="960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35664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関与業種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691640" y="5138928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B322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製造／情報通信／銀行・証券／建材・住宅／システム開発／運輸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537960" y="1691640"/>
            <a:ext cx="5013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D3A3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私たちの基本姿勢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537960" y="2103120"/>
            <a:ext cx="5013655" cy="1078992"/>
          </a:xfrm>
          <a:prstGeom prst="roundRect">
            <a:avLst>
              <a:gd name="adj" fmla="val 4661"/>
            </a:avLst>
          </a:prstGeom>
          <a:solidFill>
            <a:srgbClr val="EEF5F1"/>
          </a:solidFill>
          <a:ln w="12700">
            <a:solidFill>
              <a:srgbClr val="DBEA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39128" y="2286000"/>
            <a:ext cx="274320" cy="274320"/>
          </a:xfrm>
          <a:prstGeom prst="ellipse">
            <a:avLst/>
          </a:prstGeom>
          <a:solidFill>
            <a:srgbClr val="35664F"/>
          </a:solidFill>
          <a:ln/>
        </p:spPr>
      </p:sp>
      <p:sp>
        <p:nvSpPr>
          <p:cNvPr id="24" name="Text 22"/>
          <p:cNvSpPr/>
          <p:nvPr/>
        </p:nvSpPr>
        <p:spPr>
          <a:xfrm>
            <a:off x="6647688" y="225856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141464" y="2258568"/>
            <a:ext cx="4236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D3A3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判断には、根拠を添える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141464" y="2578608"/>
            <a:ext cx="41906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2B322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医学的な意見は、評価の材料と理由を添えてお伝えします。印象では判断しません。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537960" y="3346704"/>
            <a:ext cx="5013655" cy="1371600"/>
          </a:xfrm>
          <a:prstGeom prst="roundRect">
            <a:avLst>
              <a:gd name="adj" fmla="val 3667"/>
            </a:avLst>
          </a:prstGeom>
          <a:solidFill>
            <a:srgbClr val="EEF5F1"/>
          </a:solidFill>
          <a:ln w="12700">
            <a:solidFill>
              <a:srgbClr val="DBEAE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39128" y="3529584"/>
            <a:ext cx="274320" cy="274320"/>
          </a:xfrm>
          <a:prstGeom prst="ellipse">
            <a:avLst/>
          </a:prstGeom>
          <a:solidFill>
            <a:srgbClr val="35664F"/>
          </a:solidFill>
          <a:ln/>
        </p:spPr>
      </p:sp>
      <p:sp>
        <p:nvSpPr>
          <p:cNvPr id="29" name="Text 27"/>
          <p:cNvSpPr/>
          <p:nvPr/>
        </p:nvSpPr>
        <p:spPr>
          <a:xfrm>
            <a:off x="6647688" y="350215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141464" y="3502152"/>
            <a:ext cx="4236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D3A3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経過は、記録に残す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141464" y="3822192"/>
            <a:ext cx="419069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2B322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面談・意見・決定の経過を、後から一続きで説明できる記録として残します。監督署の調査や係争の際にも、そのまま提出できる形です。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537960" y="4882896"/>
            <a:ext cx="5013655" cy="1371600"/>
          </a:xfrm>
          <a:prstGeom prst="roundRect">
            <a:avLst>
              <a:gd name="adj" fmla="val 3667"/>
            </a:avLst>
          </a:prstGeom>
          <a:solidFill>
            <a:srgbClr val="EEF5F1"/>
          </a:solidFill>
          <a:ln w="12700">
            <a:solidFill>
              <a:srgbClr val="DBEAE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39128" y="5065776"/>
            <a:ext cx="274320" cy="274320"/>
          </a:xfrm>
          <a:prstGeom prst="ellipse">
            <a:avLst/>
          </a:prstGeom>
          <a:solidFill>
            <a:srgbClr val="35664F"/>
          </a:solidFill>
          <a:ln/>
        </p:spPr>
      </p:sp>
      <p:sp>
        <p:nvSpPr>
          <p:cNvPr id="34" name="Text 32"/>
          <p:cNvSpPr/>
          <p:nvPr/>
        </p:nvSpPr>
        <p:spPr>
          <a:xfrm>
            <a:off x="6647688" y="5038344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3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141464" y="5038344"/>
            <a:ext cx="4236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D3A3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決定は、会社が行う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141464" y="5358384"/>
            <a:ext cx="419069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2B322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就業上の措置の決定は、法律上、事業者に委ねられています（労働安全衛生法66条の5）。当事務所はその判断材料を揃え、決定の記録を残します。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6615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KIDUKIコンサルティング産業医事務所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615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D3A30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産業医の法定業務は、一通りお引き受けします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6615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専門領域は睡眠とメンタルヘルスですが、対応範囲を限定するものではありません。嘱託産業医として、日常の産業保健業務の全般を担当します。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810512"/>
            <a:ext cx="2615184" cy="1481328"/>
          </a:xfrm>
          <a:prstGeom prst="roundRect">
            <a:avLst>
              <a:gd name="adj" fmla="val 3395"/>
            </a:avLst>
          </a:prstGeom>
          <a:solidFill>
            <a:srgbClr val="FFFFFF"/>
          </a:solidFill>
          <a:ln w="12700">
            <a:solidFill>
              <a:srgbClr val="DBEA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956816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D3A3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衛生委員会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04672" y="237744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2B322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出席、議題・資料の整備、議事録への意見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" y="298094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56615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労働安全衛生法18条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401568" y="1810512"/>
            <a:ext cx="2615184" cy="1481328"/>
          </a:xfrm>
          <a:prstGeom prst="roundRect">
            <a:avLst>
              <a:gd name="adj" fmla="val 3395"/>
            </a:avLst>
          </a:prstGeom>
          <a:solidFill>
            <a:srgbClr val="FFFFFF"/>
          </a:solidFill>
          <a:ln w="12700">
            <a:solidFill>
              <a:srgbClr val="DBEA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1956816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D3A3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職場巡視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566160" y="237744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2B322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定期巡視と、指摘事項の是正確認まで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566160" y="298094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56615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労働安全衛生規則15条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6163056" y="1810512"/>
            <a:ext cx="2615184" cy="1481328"/>
          </a:xfrm>
          <a:prstGeom prst="roundRect">
            <a:avLst>
              <a:gd name="adj" fmla="val 3395"/>
            </a:avLst>
          </a:prstGeom>
          <a:solidFill>
            <a:srgbClr val="FFFFFF"/>
          </a:solidFill>
          <a:ln w="12700">
            <a:solidFill>
              <a:srgbClr val="DBEA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27648" y="1956816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D3A3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健康診断の事後措置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327648" y="237744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2B322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結果への医師意見、就業区分の判定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327648" y="298094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56615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労働安全衛生法66条の4・66条の5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8924544" y="1810512"/>
            <a:ext cx="2615184" cy="1481328"/>
          </a:xfrm>
          <a:prstGeom prst="roundRect">
            <a:avLst>
              <a:gd name="adj" fmla="val 3395"/>
            </a:avLst>
          </a:prstGeom>
          <a:solidFill>
            <a:srgbClr val="FFFFFF"/>
          </a:solidFill>
          <a:ln w="12700">
            <a:solidFill>
              <a:srgbClr val="DBEA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89136" y="1956816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D3A3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長時間労働者への面接指導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089136" y="237744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2B322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対象者の面談と意見書の作成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089136" y="298094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56615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労働安全衛生法66条の8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40080" y="3474720"/>
            <a:ext cx="2615184" cy="1481328"/>
          </a:xfrm>
          <a:prstGeom prst="roundRect">
            <a:avLst>
              <a:gd name="adj" fmla="val 3395"/>
            </a:avLst>
          </a:prstGeom>
          <a:solidFill>
            <a:srgbClr val="FFFFFF"/>
          </a:solidFill>
          <a:ln w="12700">
            <a:solidFill>
              <a:srgbClr val="DBEA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362102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D3A3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ストレスチェック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04672" y="404164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2B322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実施者対応、高ストレス者の面接指導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04672" y="464515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56615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労働安全衛生法66条の10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401568" y="3474720"/>
            <a:ext cx="2615184" cy="1481328"/>
          </a:xfrm>
          <a:prstGeom prst="roundRect">
            <a:avLst>
              <a:gd name="adj" fmla="val 3395"/>
            </a:avLst>
          </a:prstGeom>
          <a:solidFill>
            <a:srgbClr val="FFFFFF"/>
          </a:solidFill>
          <a:ln w="12700">
            <a:solidFill>
              <a:srgbClr val="DBEA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66160" y="362102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D3A3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休職・復職支援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566160" y="404164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2B322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面談、意見書、復職後のフォロー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566160" y="464515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56615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厚労省・職場復帰支援の手引き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212080" y="3621024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A9772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専門領域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163056" y="3474720"/>
            <a:ext cx="2615184" cy="1481328"/>
          </a:xfrm>
          <a:prstGeom prst="roundRect">
            <a:avLst>
              <a:gd name="adj" fmla="val 3395"/>
            </a:avLst>
          </a:prstGeom>
          <a:solidFill>
            <a:srgbClr val="FFFFFF"/>
          </a:solidFill>
          <a:ln w="12700">
            <a:solidFill>
              <a:srgbClr val="DBEAE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27648" y="362102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D3A3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健康相談・衛生教育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327648" y="404164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2B322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従業員の健康相談、研修の実施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327648" y="464515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56615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労働安全衛生規則14条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8924544" y="3474720"/>
            <a:ext cx="2615184" cy="1481328"/>
          </a:xfrm>
          <a:prstGeom prst="roundRect">
            <a:avLst>
              <a:gd name="adj" fmla="val 3395"/>
            </a:avLst>
          </a:prstGeom>
          <a:solidFill>
            <a:srgbClr val="FFFFFF"/>
          </a:solidFill>
          <a:ln w="12700">
            <a:solidFill>
              <a:srgbClr val="DBEA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89136" y="362102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D3A3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体制構築の支援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9089136" y="404164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2B322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50名到達・拠点新設時の体制づくり、規程・書式の整備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089136" y="464515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56615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健康経営の調査項目にも対応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40080" y="528523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6615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※ 睡眠研修（90分・事前事後アンケート・実施報告書つき）は、単発でも承っています。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6615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KIDUKIコンサルティング産業医事務所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615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D3A30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休職・復職の対応は、「可否の判断」だけでは終わりません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6615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多くの企業で、判断のあとに同じ問題が起きています。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11296" cy="1920240"/>
          </a:xfrm>
          <a:prstGeom prst="roundRect">
            <a:avLst>
              <a:gd name="adj" fmla="val 2619"/>
            </a:avLst>
          </a:prstGeom>
          <a:solidFill>
            <a:srgbClr val="FFFFFF"/>
          </a:solidFill>
          <a:ln w="12700">
            <a:solidFill>
              <a:srgbClr val="DBEA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" y="2066544"/>
            <a:ext cx="329184" cy="329184"/>
          </a:xfrm>
          <a:prstGeom prst="ellipse">
            <a:avLst/>
          </a:prstGeom>
          <a:solidFill>
            <a:srgbClr val="35664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2039112"/>
            <a:ext cx="51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35024" y="2084832"/>
            <a:ext cx="2596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D3A3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判断材料が揃わない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96112" y="2743200"/>
            <a:ext cx="2999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2B322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主治医の診断書、勤務の実態、本人の状態が別々に届き、医学の知識がないまま、人事が判断を抱え込みます。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34256" y="1828800"/>
            <a:ext cx="3511296" cy="1920240"/>
          </a:xfrm>
          <a:prstGeom prst="roundRect">
            <a:avLst>
              <a:gd name="adj" fmla="val 2619"/>
            </a:avLst>
          </a:prstGeom>
          <a:solidFill>
            <a:srgbClr val="FFFFFF"/>
          </a:solidFill>
          <a:ln w="12700">
            <a:solidFill>
              <a:srgbClr val="DBEA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53712" y="2066544"/>
            <a:ext cx="329184" cy="329184"/>
          </a:xfrm>
          <a:prstGeom prst="ellipse">
            <a:avLst/>
          </a:prstGeom>
          <a:solidFill>
            <a:srgbClr val="35664F"/>
          </a:solidFill>
          <a:ln/>
        </p:spPr>
      </p:sp>
      <p:sp>
        <p:nvSpPr>
          <p:cNvPr id="11" name="Text 9"/>
          <p:cNvSpPr/>
          <p:nvPr/>
        </p:nvSpPr>
        <p:spPr>
          <a:xfrm>
            <a:off x="4462272" y="2039112"/>
            <a:ext cx="51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0" y="2084832"/>
            <a:ext cx="2596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D3A3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措置が曖昧なまま現場に渡る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90288" y="2743200"/>
            <a:ext cx="2999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2B322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「残業は控えめに」といった表現では、現場は動けません。措置には、内容・開始日・期限が必要です。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28432" y="1828800"/>
            <a:ext cx="3511296" cy="1920240"/>
          </a:xfrm>
          <a:prstGeom prst="roundRect">
            <a:avLst>
              <a:gd name="adj" fmla="val 2619"/>
            </a:avLst>
          </a:prstGeom>
          <a:solidFill>
            <a:srgbClr val="FFFFFF"/>
          </a:solidFill>
          <a:ln w="12700">
            <a:solidFill>
              <a:srgbClr val="DBEA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47888" y="2066544"/>
            <a:ext cx="329184" cy="329184"/>
          </a:xfrm>
          <a:prstGeom prst="ellipse">
            <a:avLst/>
          </a:prstGeom>
          <a:solidFill>
            <a:srgbClr val="35664F"/>
          </a:solidFill>
          <a:ln/>
        </p:spPr>
      </p:sp>
      <p:sp>
        <p:nvSpPr>
          <p:cNvPr id="16" name="Text 14"/>
          <p:cNvSpPr/>
          <p:nvPr/>
        </p:nvSpPr>
        <p:spPr>
          <a:xfrm>
            <a:off x="8156448" y="2039112"/>
            <a:ext cx="51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723376" y="2084832"/>
            <a:ext cx="2596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D3A3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再評価が抜ける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84464" y="2743200"/>
            <a:ext cx="2999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2B322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復職後の見直し時期が管理されず、一時的なはずの就業制限が何年も残る。逆に、必要な制限が外れたままになることもあります。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4206240"/>
            <a:ext cx="10911535" cy="1325880"/>
          </a:xfrm>
          <a:prstGeom prst="roundRect">
            <a:avLst>
              <a:gd name="adj" fmla="val 3793"/>
            </a:avLst>
          </a:prstGeom>
          <a:solidFill>
            <a:srgbClr val="EEF5F1"/>
          </a:solidFill>
          <a:ln w="12700">
            <a:solidFill>
              <a:srgbClr val="DBEA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44622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35664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当事務所の対応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017520" y="4462272"/>
            <a:ext cx="81683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B322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意見書には「措置の内容・開始日・再評価日・解除条件」の4点を必ず明記します。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B322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そして再評価日が来るまで、ひとつの案件として追跡します。開いたままの案件を残しません。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6615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KIDUKIコンサルティング産業医事務所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615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D3A30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復職支援の進め方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6615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復職支援Packの標準的な流れです。ご依頼から、復職後の措置解除（または復職日から3か月）までを担当します。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14400" y="2258568"/>
            <a:ext cx="10362895" cy="0"/>
          </a:xfrm>
          <a:prstGeom prst="line">
            <a:avLst/>
          </a:prstGeom>
          <a:noFill/>
          <a:ln w="19050">
            <a:solidFill>
              <a:srgbClr val="DBEA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" y="2103120"/>
            <a:ext cx="310896" cy="310896"/>
          </a:xfrm>
          <a:prstGeom prst="ellipse">
            <a:avLst/>
          </a:prstGeom>
          <a:solidFill>
            <a:srgbClr val="35664F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" y="2075688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" y="25420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D3A3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情報の整理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" y="296265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6615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診断書・勤務情報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6615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本人同意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831531" y="2103120"/>
            <a:ext cx="310896" cy="310896"/>
          </a:xfrm>
          <a:prstGeom prst="ellipse">
            <a:avLst/>
          </a:prstGeom>
          <a:solidFill>
            <a:srgbClr val="35664F"/>
          </a:solidFill>
          <a:ln/>
        </p:spPr>
      </p:sp>
      <p:sp>
        <p:nvSpPr>
          <p:cNvPr id="10" name="Text 8"/>
          <p:cNvSpPr/>
          <p:nvPr/>
        </p:nvSpPr>
        <p:spPr>
          <a:xfrm>
            <a:off x="2740091" y="2075688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18299" y="25420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D3A3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主治医への照会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118299" y="296265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6615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照会文面は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6615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当事務所が作成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904110" y="2103120"/>
            <a:ext cx="310896" cy="310896"/>
          </a:xfrm>
          <a:prstGeom prst="ellipse">
            <a:avLst/>
          </a:prstGeom>
          <a:solidFill>
            <a:srgbClr val="35664F"/>
          </a:solidFill>
          <a:ln/>
        </p:spPr>
      </p:sp>
      <p:sp>
        <p:nvSpPr>
          <p:cNvPr id="14" name="Text 12"/>
          <p:cNvSpPr/>
          <p:nvPr/>
        </p:nvSpPr>
        <p:spPr>
          <a:xfrm>
            <a:off x="4812670" y="2075688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90878" y="25420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D3A3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面談・評価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190878" y="296265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6615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面談3回＋生活リズム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6615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の客観評価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976689" y="2103120"/>
            <a:ext cx="310896" cy="310896"/>
          </a:xfrm>
          <a:prstGeom prst="ellipse">
            <a:avLst/>
          </a:prstGeom>
          <a:solidFill>
            <a:srgbClr val="35664F"/>
          </a:solidFill>
          <a:ln/>
        </p:spPr>
      </p:sp>
      <p:sp>
        <p:nvSpPr>
          <p:cNvPr id="18" name="Text 16"/>
          <p:cNvSpPr/>
          <p:nvPr/>
        </p:nvSpPr>
        <p:spPr>
          <a:xfrm>
            <a:off x="6885249" y="2075688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63457" y="25420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D3A3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意見書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263457" y="296265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6615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措置4点を明記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9049268" y="2103120"/>
            <a:ext cx="310896" cy="310896"/>
          </a:xfrm>
          <a:prstGeom prst="ellipse">
            <a:avLst/>
          </a:prstGeom>
          <a:solidFill>
            <a:srgbClr val="35664F"/>
          </a:solidFill>
          <a:ln/>
        </p:spPr>
      </p:sp>
      <p:sp>
        <p:nvSpPr>
          <p:cNvPr id="22" name="Text 20"/>
          <p:cNvSpPr/>
          <p:nvPr/>
        </p:nvSpPr>
        <p:spPr>
          <a:xfrm>
            <a:off x="8957828" y="2075688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336036" y="25420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D3A3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会社の決定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336036" y="296265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6615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決定は必ず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6615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会社が行います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1121847" y="2103120"/>
            <a:ext cx="310896" cy="310896"/>
          </a:xfrm>
          <a:prstGeom prst="ellipse">
            <a:avLst/>
          </a:prstGeom>
          <a:solidFill>
            <a:srgbClr val="35664F"/>
          </a:solidFill>
          <a:ln/>
        </p:spPr>
      </p:sp>
      <p:sp>
        <p:nvSpPr>
          <p:cNvPr id="26" name="Text 24"/>
          <p:cNvSpPr/>
          <p:nvPr/>
        </p:nvSpPr>
        <p:spPr>
          <a:xfrm>
            <a:off x="11030407" y="2075688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408615" y="25420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D3A3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フォロー・再評価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0408615" y="296265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6615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復職後面談、措置の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6615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見直し・解除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40080" y="3749040"/>
            <a:ext cx="5346040" cy="20116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BEAE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7824" y="3931920"/>
            <a:ext cx="4870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D3A3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客観的生活リズム評価（Packに標準で含まれます）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77824" y="4315968"/>
            <a:ext cx="48705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2B322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腕時計型の活動量計（アクチグラフ）と睡眠日誌により、復職前の生活リズムを約2週間、実測で評価します。印象ではなく、データに基づいて判断するためです。</a:t>
            </a:r>
            <a:endParaRPr lang="en-US" sz="10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2B322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測定データを扱うのは医師のみ。会社には、勤務準備性の評価結果のみをお伝えします。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05576" y="3749040"/>
            <a:ext cx="5346040" cy="20116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BEAE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43320" y="3931920"/>
            <a:ext cx="4870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D3A3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ご担当者にお願いする作業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443320" y="4315968"/>
            <a:ext cx="48705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2B322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資料の共有と、要所での決定のみです。主治医との調整、日程調整、文書の作成、期日の管理は当事務所が行います。</a:t>
            </a:r>
            <a:endParaRPr lang="en-US" sz="10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2B322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完了時には、面談記録・意見・決定の経過をまとめた記録一式（Decision Pack）をお渡しします。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6615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KIDUKIコンサルティング産業医事務所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615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D3A30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ご契約の形は、3つあります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6615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必要な範囲だけをご契約いただけます。月額契約がなくても、1件からご依頼いただけます。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11296" cy="3785616"/>
          </a:xfrm>
          <a:prstGeom prst="roundRect">
            <a:avLst>
              <a:gd name="adj" fmla="val 1432"/>
            </a:avLst>
          </a:prstGeom>
          <a:solidFill>
            <a:srgbClr val="FFFFFF"/>
          </a:solidFill>
          <a:ln w="12700">
            <a:solidFill>
              <a:srgbClr val="DBEAE2"/>
            </a:solidFill>
            <a:prstDash val="solid"/>
          </a:ln>
          <a:effectLst>
            <a:outerShdw sx="100000" sy="100000" kx="0" ky="0" algn="bl" rotWithShape="0" blurRad="88900" dist="25400" dir="5400000">
              <a:srgbClr val="1A2421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2020824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D3A3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復職支援Pack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96112" y="2350008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A9772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月額契約なし・1件完結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96112" y="2651760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35664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150,000円</a:t>
            </a:r>
            <a:pPr algn="l" indent="0" marL="0">
              <a:buNone/>
            </a:pPr>
            <a:r>
              <a:rPr lang="en-US" sz="1100" dirty="0">
                <a:solidFill>
                  <a:srgbClr val="56615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 ／件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896112" y="3172968"/>
            <a:ext cx="2999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6615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いま目の前の復職案件を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6615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解決したい企業に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896112" y="3794760"/>
            <a:ext cx="2999232" cy="0"/>
          </a:xfrm>
          <a:prstGeom prst="line">
            <a:avLst/>
          </a:prstGeom>
          <a:noFill/>
          <a:ln w="9525">
            <a:solidFill>
              <a:srgbClr val="DBEA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3922776"/>
            <a:ext cx="3054096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2B322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・主治医照会、面談3回、意見書（措置4点）</a:t>
            </a:r>
            <a:endParaRPr lang="en-US" sz="900" dirty="0"/>
          </a:p>
          <a:p>
            <a:pPr algn="l" indent="0" marL="0">
              <a:lnSpc>
                <a:spcPct val="122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2B322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・客観的生活リズム評価を標準で含む</a:t>
            </a:r>
            <a:endParaRPr lang="en-US" sz="900" dirty="0"/>
          </a:p>
          <a:p>
            <a:pPr algn="l" indent="0" marL="0">
              <a:lnSpc>
                <a:spcPct val="122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2B322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・人事フィードバック、記録一式の納品</a:t>
            </a:r>
            <a:endParaRPr lang="en-US" sz="900" dirty="0"/>
          </a:p>
          <a:p>
            <a:pPr algn="l" indent="0" marL="0">
              <a:lnSpc>
                <a:spcPct val="122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2B322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・期間：復職日から3か月または措置解除まで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334256" y="1783080"/>
            <a:ext cx="3511296" cy="3785616"/>
          </a:xfrm>
          <a:prstGeom prst="roundRect">
            <a:avLst>
              <a:gd name="adj" fmla="val 1432"/>
            </a:avLst>
          </a:prstGeom>
          <a:solidFill>
            <a:srgbClr val="FFFFFF"/>
          </a:solidFill>
          <a:ln w="12700">
            <a:solidFill>
              <a:srgbClr val="DBEAE2"/>
            </a:solidFill>
            <a:prstDash val="solid"/>
          </a:ln>
          <a:effectLst>
            <a:outerShdw sx="100000" sy="100000" kx="0" ky="0" algn="bl" rotWithShape="0" blurRad="88900" dist="25400" dir="5400000">
              <a:srgbClr val="1A2421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90288" y="2020824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D3A3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KIDUKI Basic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90288" y="2350008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A9772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継続的な相談窓口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90288" y="2651760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35664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40,000円</a:t>
            </a:r>
            <a:pPr algn="l" indent="0" marL="0">
              <a:buNone/>
            </a:pPr>
            <a:r>
              <a:rPr lang="en-US" sz="1100" dirty="0">
                <a:solidFill>
                  <a:srgbClr val="56615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 ／月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4590288" y="3172968"/>
            <a:ext cx="2999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6615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選任義務のない企業や、既存の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6615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産業医を補完したい企業に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90288" y="3794760"/>
            <a:ext cx="2999232" cy="0"/>
          </a:xfrm>
          <a:prstGeom prst="line">
            <a:avLst/>
          </a:prstGeom>
          <a:noFill/>
          <a:ln w="9525">
            <a:solidFill>
              <a:srgbClr val="DBEA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90288" y="3922776"/>
            <a:ext cx="3054096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2B322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・月30分の相談・対応枠</a:t>
            </a:r>
            <a:endParaRPr lang="en-US" sz="900" dirty="0"/>
          </a:p>
          <a:p>
            <a:pPr algn="l" indent="0" marL="0">
              <a:lnSpc>
                <a:spcPct val="122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2B322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・休復職・睡眠・メンタルの専門対応</a:t>
            </a:r>
            <a:endParaRPr lang="en-US" sz="900" dirty="0"/>
          </a:p>
          <a:p>
            <a:pPr algn="l" indent="0" marL="0">
              <a:lnSpc>
                <a:spcPct val="122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2B322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・既存産業医の選任関係・法定業務はそのまま</a:t>
            </a:r>
            <a:endParaRPr lang="en-US" sz="900" dirty="0"/>
          </a:p>
          <a:p>
            <a:pPr algn="l" indent="0" marL="0">
              <a:lnSpc>
                <a:spcPct val="122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2B322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・超過分は契約者料金（次ページ）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028432" y="1783080"/>
            <a:ext cx="3511296" cy="3785616"/>
          </a:xfrm>
          <a:prstGeom prst="roundRect">
            <a:avLst>
              <a:gd name="adj" fmla="val 1432"/>
            </a:avLst>
          </a:prstGeom>
          <a:solidFill>
            <a:srgbClr val="FFFFFF"/>
          </a:solidFill>
          <a:ln w="12700">
            <a:solidFill>
              <a:srgbClr val="DBEAE2"/>
            </a:solidFill>
            <a:prstDash val="solid"/>
          </a:ln>
          <a:effectLst>
            <a:outerShdw sx="100000" sy="100000" kx="0" ky="0" algn="bl" rotWithShape="0" blurRad="88900" dist="25400" dir="5400000">
              <a:srgbClr val="1A2421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284464" y="2020824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D3A3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KIDUKI Retain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84464" y="2350008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A9772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嘱託産業医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284464" y="2651760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35664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100,000円</a:t>
            </a:r>
            <a:pPr algn="l" indent="0" marL="0">
              <a:buNone/>
            </a:pPr>
            <a:r>
              <a:rPr lang="en-US" sz="1100" dirty="0">
                <a:solidFill>
                  <a:srgbClr val="56615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 ／月〜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8284464" y="3172968"/>
            <a:ext cx="2999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6615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選任産業医として、法定業務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6615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全般の継続対応を求める企業に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284464" y="3794760"/>
            <a:ext cx="2999232" cy="0"/>
          </a:xfrm>
          <a:prstGeom prst="line">
            <a:avLst/>
          </a:prstGeom>
          <a:noFill/>
          <a:ln w="9525">
            <a:solidFill>
              <a:srgbClr val="DBEA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84464" y="3922776"/>
            <a:ext cx="3054096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2B322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・定例対応 月60分〜（時間は契約範囲により設計）</a:t>
            </a:r>
            <a:endParaRPr lang="en-US" sz="900" dirty="0"/>
          </a:p>
          <a:p>
            <a:pPr algn="l" indent="0" marL="0">
              <a:lnSpc>
                <a:spcPct val="122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2B322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・衛生委員会、巡視、面接指導ほか法定業務</a:t>
            </a:r>
            <a:endParaRPr lang="en-US" sz="900" dirty="0"/>
          </a:p>
          <a:p>
            <a:pPr algn="l" indent="0" marL="0">
              <a:lnSpc>
                <a:spcPct val="122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2B322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・産業保健体制の継続的な把握と改善</a:t>
            </a:r>
            <a:endParaRPr lang="en-US" sz="900" dirty="0"/>
          </a:p>
          <a:p>
            <a:pPr algn="l" indent="0" marL="0">
              <a:lnSpc>
                <a:spcPct val="122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2B322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・超過分は契約者料金（次ページ）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" y="574243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6615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※ 表示価格に対する消費税・実費の取扱いは、お見積書に明記します。／同一案件での追加面談（4回目以降）は 28,000円／回です。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6615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KIDUKIコンサルティング産業医事務所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615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D3A30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料金は、事前にすべてご提示します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2B322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月額プランには、毎月の対応時間が含まれます（Basic：月30分、Retain：月60分〜）。含まれる時間を超える業務は、右の契約者料金でご請求します。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25146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D3A3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3つのお約束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926080"/>
            <a:ext cx="5120640" cy="786384"/>
          </a:xfrm>
          <a:prstGeom prst="roundRect">
            <a:avLst>
              <a:gd name="adj" fmla="val 6395"/>
            </a:avLst>
          </a:prstGeom>
          <a:solidFill>
            <a:srgbClr val="EEF5F1"/>
          </a:solidFill>
          <a:ln w="12700">
            <a:solidFill>
              <a:srgbClr val="DBEA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3163824"/>
            <a:ext cx="292608" cy="292608"/>
          </a:xfrm>
          <a:prstGeom prst="ellipse">
            <a:avLst/>
          </a:prstGeom>
          <a:solidFill>
            <a:srgbClr val="35664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136392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61872" y="3035808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B322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契約の前に、総額の目安をお見積りでご提示します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3858768"/>
            <a:ext cx="5120640" cy="786384"/>
          </a:xfrm>
          <a:prstGeom prst="roundRect">
            <a:avLst>
              <a:gd name="adj" fmla="val 6395"/>
            </a:avLst>
          </a:prstGeom>
          <a:solidFill>
            <a:srgbClr val="EEF5F1"/>
          </a:solidFill>
          <a:ln w="12700">
            <a:solidFill>
              <a:srgbClr val="DBEA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4096512"/>
            <a:ext cx="292608" cy="292608"/>
          </a:xfrm>
          <a:prstGeom prst="ellipse">
            <a:avLst/>
          </a:prstGeom>
          <a:solidFill>
            <a:srgbClr val="35664F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4069080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61872" y="3968496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B322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含まれる範囲と、追加になる場合の単価を契約書に明記します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4791456"/>
            <a:ext cx="5120640" cy="786384"/>
          </a:xfrm>
          <a:prstGeom prst="roundRect">
            <a:avLst>
              <a:gd name="adj" fmla="val 6395"/>
            </a:avLst>
          </a:prstGeom>
          <a:solidFill>
            <a:srgbClr val="EEF5F1"/>
          </a:solidFill>
          <a:ln w="12700">
            <a:solidFill>
              <a:srgbClr val="DBEAE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5029200"/>
            <a:ext cx="292608" cy="292608"/>
          </a:xfrm>
          <a:prstGeom prst="ellipse">
            <a:avLst/>
          </a:prstGeom>
          <a:solidFill>
            <a:srgbClr val="35664F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5001768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61872" y="4901184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B322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追加費用が見込まれる場合は、着手の前にご連絡します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72200" y="1325880"/>
            <a:ext cx="5379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D3A3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主な業務の契約者料金（オンライン実施を基準）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755648"/>
          <a:ext cx="5379415" cy="914400"/>
        </p:xfrm>
        <a:graphic>
          <a:graphicData uri="http://schemas.openxmlformats.org/drawingml/2006/table">
            <a:tbl>
              <a:tblPr/>
              <a:tblGrid>
                <a:gridCol w="2788920"/>
                <a:gridCol w="868680"/>
                <a:gridCol w="14173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業務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B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時間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B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料金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B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A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322E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健康相談 等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B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322E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20分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B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322E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14,000円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B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322E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ストレス・その他面談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B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322E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30分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B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322E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20,000円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B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322E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復職・体調相談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B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322E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40分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B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322E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27,000円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B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322E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人事フィードバック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B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322E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15分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B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322E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10,000円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B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322E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人事フィードバック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B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322E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30分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B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322E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20,000円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B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322E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診療情報提供依頼書 等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B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322E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1通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B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322E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5,000円</a:t>
                      </a:r>
                      <a:endParaRPr lang="en-US" sz="10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B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6172200" y="4617720"/>
            <a:ext cx="5379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6615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※ 契約者料金は、月額プラン（Basic・Retain）のご契約企業に適用される単価です。</a:t>
            </a:r>
            <a:endParaRPr lang="en-US" sz="9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6615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※ 上記にない業務・訪問を伴う業務は、個別にお見積りします。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6615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KIDUKIコンサルティング産業医事務所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615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D3A30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記録の管理と、健康情報の取扱い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6615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「対応した」で終わらせず、「説明できる」状態を保つこと。私たちのサービスの土台です。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6040" cy="3749040"/>
          </a:xfrm>
          <a:prstGeom prst="roundRect">
            <a:avLst>
              <a:gd name="adj" fmla="val 1341"/>
            </a:avLst>
          </a:prstGeom>
          <a:solidFill>
            <a:srgbClr val="FFFFFF"/>
          </a:solidFill>
          <a:ln w="12700">
            <a:solidFill>
              <a:srgbClr val="DBEA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048256"/>
            <a:ext cx="4833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D3A3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案件の進行と記録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96112" y="2450592"/>
            <a:ext cx="48339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2B322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面談の予約から記録の保管、対応状況の追跡までを、当事務所が自社開発した産業保健の管理システム「Casetra」で行います。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96112" y="3310128"/>
            <a:ext cx="48339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2B322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・日程調整はシステムが行い、往復メールをなくします</a:t>
            </a:r>
            <a:endParaRPr lang="en-US" sz="1000" dirty="0"/>
          </a:p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2B322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・再評価日・フォロー時期などの期日を自動で管理します</a:t>
            </a:r>
            <a:endParaRPr lang="en-US" sz="1000" dirty="0"/>
          </a:p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2B322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・経過は案件ごとに整理され、必要な際に一式でお渡しできます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96112" y="4681728"/>
            <a:ext cx="4833976" cy="658368"/>
          </a:xfrm>
          <a:prstGeom prst="roundRect">
            <a:avLst>
              <a:gd name="adj" fmla="val 7639"/>
            </a:avLst>
          </a:prstGeom>
          <a:solidFill>
            <a:srgbClr val="EEF5F1"/>
          </a:solidFill>
          <a:ln w="12700">
            <a:solidFill>
              <a:srgbClr val="DBEA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4754880"/>
            <a:ext cx="450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D3A3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システムは当事務所の業務運用の一部です。貴社に追加のシステム利用料は発生しません。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205576" y="1828800"/>
            <a:ext cx="5346040" cy="3749040"/>
          </a:xfrm>
          <a:prstGeom prst="roundRect">
            <a:avLst>
              <a:gd name="adj" fmla="val 1341"/>
            </a:avLst>
          </a:prstGeom>
          <a:solidFill>
            <a:srgbClr val="FFFFFF"/>
          </a:solidFill>
          <a:ln w="12700">
            <a:solidFill>
              <a:srgbClr val="DBEA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61608" y="2048256"/>
            <a:ext cx="4833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D3A3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健康情報の取扱い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61608" y="2487168"/>
            <a:ext cx="483397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2B322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・医療に関わる情報は、医師の管理下で区分して保管します</a:t>
            </a:r>
            <a:endParaRPr lang="en-US" sz="1050" dirty="0"/>
          </a:p>
          <a:p>
            <a:pPr algn="l" indent="0" marL="0">
              <a:lnSpc>
                <a:spcPct val="135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2B322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・会社にお伝えするのは、就業上の意見（結論）のみです</a:t>
            </a:r>
            <a:endParaRPr lang="en-US" sz="1050" dirty="0"/>
          </a:p>
          <a:p>
            <a:pPr algn="l" indent="0" marL="0">
              <a:lnSpc>
                <a:spcPct val="135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2B322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・情報の取得・提供は、本人の同意の範囲で行います</a:t>
            </a:r>
            <a:endParaRPr lang="en-US" sz="1050" dirty="0"/>
          </a:p>
          <a:p>
            <a:pPr algn="l" indent="0" marL="0">
              <a:lnSpc>
                <a:spcPct val="135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2B322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・アクセスは役割ごとに制限し、外部共有は原則行いません</a:t>
            </a:r>
            <a:endParaRPr lang="en-US" sz="1050" dirty="0"/>
          </a:p>
          <a:p>
            <a:pPr algn="l" indent="0" marL="0">
              <a:lnSpc>
                <a:spcPct val="135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2B322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・受診が必要な場合も、医療機関の指定・紹介は行いません。受診先はご本人が選びます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6615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KIDUKIコンサルティング産業医事務所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615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D3A30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よくあるご質問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531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5664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Q. </a:t>
            </a:r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D3A3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睡眠が専門とのことですが、通常の産業医業務も依頼できますか。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1975104"/>
            <a:ext cx="5272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B322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はい。衛生委員会、職場巡視、健診事後措置、長時間労働者・高ストレス者の面接指導、復職支援まで、嘱託産業医の法定業務を一通りお引き受けします。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2971800"/>
            <a:ext cx="531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5664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Q. </a:t>
            </a:r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D3A3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すでに産業医がいます。休復職の対応だけを依頼できますか。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" y="3483864"/>
            <a:ext cx="5272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B322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できます。既存の産業医の選任関係や法定業務はそのままに、休復職・睡眠・メンタルの面談を専門的に補完します（Basic、または1件ごとのPack）。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4480560"/>
            <a:ext cx="531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5664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Q. </a:t>
            </a:r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D3A3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会社側の作業は増えませんか。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8368" y="4992624"/>
            <a:ext cx="5272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B322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増やしません。お願いするのは、窓口を1名決めていただくこと、資料の共有、要所での決定です。日程調整・文書作成・期日管理は当事務所が行います。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233008" y="1463040"/>
            <a:ext cx="531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5664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Q. </a:t>
            </a:r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D3A3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従業員の健康情報は、どこまで会社に伝わりますか。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51296" y="1975104"/>
            <a:ext cx="5272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B322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就業上の意見（結論）のみをお伝えします。診断名や検査データなどの医療情報は、ご本人の同意なく会社に開示しません。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233008" y="2971800"/>
            <a:ext cx="531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5664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Q. </a:t>
            </a:r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D3A3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遠方の事業場でも対応できますか。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51296" y="3483864"/>
            <a:ext cx="5272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B322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オンラインで対応します。訪問が必要な業務（職場巡視など）は、頻度と方法を契約時に取り決めます。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233008" y="4480560"/>
            <a:ext cx="531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5664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Q. </a:t>
            </a:r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D3A3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記録の管理システムだけを、自社で使うことはできますか。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51296" y="4992624"/>
            <a:ext cx="5272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B322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当事務所が業務で使用しているシステム「CASETRA」は、企業向けにも提供しています。ご希望の場合は別途ご案内します（本資料のサービスとは独立した契約です）。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6615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KIDUKIコンサルティング産業医事務所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615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D3A30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ご相談から開始まで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511296" cy="1920240"/>
          </a:xfrm>
          <a:prstGeom prst="roundRect">
            <a:avLst>
              <a:gd name="adj" fmla="val 2619"/>
            </a:avLst>
          </a:prstGeom>
          <a:solidFill>
            <a:srgbClr val="FFFFFF"/>
          </a:solidFill>
          <a:ln w="12700">
            <a:solidFill>
              <a:srgbClr val="DBEA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" y="1810512"/>
            <a:ext cx="329184" cy="329184"/>
          </a:xfrm>
          <a:prstGeom prst="ellipse">
            <a:avLst/>
          </a:prstGeom>
          <a:solidFill>
            <a:srgbClr val="35664F"/>
          </a:solidFill>
          <a:ln/>
        </p:spPr>
      </p:sp>
      <p:sp>
        <p:nvSpPr>
          <p:cNvPr id="5" name="Text 3"/>
          <p:cNvSpPr/>
          <p:nvPr/>
        </p:nvSpPr>
        <p:spPr>
          <a:xfrm>
            <a:off x="786384" y="1783080"/>
            <a:ext cx="51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53312" y="1792224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D3A3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初回のご相談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53312" y="2121408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A9772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無料・オンライン15分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96112" y="2487168"/>
            <a:ext cx="2999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2B322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現在の体制と、お困りの案件を伺います。その場でのご契約は不要です。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34256" y="1554480"/>
            <a:ext cx="3511296" cy="1920240"/>
          </a:xfrm>
          <a:prstGeom prst="roundRect">
            <a:avLst>
              <a:gd name="adj" fmla="val 2619"/>
            </a:avLst>
          </a:prstGeom>
          <a:solidFill>
            <a:srgbClr val="FFFFFF"/>
          </a:solidFill>
          <a:ln w="12700">
            <a:solidFill>
              <a:srgbClr val="DBEA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810512"/>
            <a:ext cx="329184" cy="329184"/>
          </a:xfrm>
          <a:prstGeom prst="ellipse">
            <a:avLst/>
          </a:prstGeom>
          <a:solidFill>
            <a:srgbClr val="35664F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1783080"/>
            <a:ext cx="51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47488" y="1792224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D3A3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ご提案・お見積り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47488" y="2121408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A9772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書面でご提示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90288" y="2487168"/>
            <a:ext cx="2999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2B322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対応する範囲と概算を、書面でご提示します。ご検討はお見積りをご確認のうえで。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028432" y="1554480"/>
            <a:ext cx="3511296" cy="1920240"/>
          </a:xfrm>
          <a:prstGeom prst="roundRect">
            <a:avLst>
              <a:gd name="adj" fmla="val 2619"/>
            </a:avLst>
          </a:prstGeom>
          <a:solidFill>
            <a:srgbClr val="FFFFFF"/>
          </a:solidFill>
          <a:ln w="12700">
            <a:solidFill>
              <a:srgbClr val="DBEA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66176" y="1810512"/>
            <a:ext cx="329184" cy="329184"/>
          </a:xfrm>
          <a:prstGeom prst="ellipse">
            <a:avLst/>
          </a:prstGeom>
          <a:solidFill>
            <a:srgbClr val="35664F"/>
          </a:solidFill>
          <a:ln/>
        </p:spPr>
      </p:sp>
      <p:sp>
        <p:nvSpPr>
          <p:cNvPr id="17" name="Text 15"/>
          <p:cNvSpPr/>
          <p:nvPr/>
        </p:nvSpPr>
        <p:spPr>
          <a:xfrm>
            <a:off x="8174736" y="1783080"/>
            <a:ext cx="51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741664" y="1792224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D3A3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ご契約・開始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741664" y="2121408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A9772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最短で当月から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84464" y="2487168"/>
            <a:ext cx="2999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2B322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窓口・書式・進め方を整えて開始します。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397764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3A30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まずは、いま止まっている案件の状況をお聞かせください。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2103120" y="4663440"/>
            <a:ext cx="7985455" cy="1371600"/>
          </a:xfrm>
          <a:prstGeom prst="roundRect">
            <a:avLst>
              <a:gd name="adj" fmla="val 3667"/>
            </a:avLst>
          </a:prstGeom>
          <a:solidFill>
            <a:srgbClr val="EEF5F1"/>
          </a:solidFill>
          <a:ln w="12700">
            <a:solidFill>
              <a:srgbClr val="DBEA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03120" y="4864608"/>
            <a:ext cx="7985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6615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初回のご相談（無料）はこちらから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103120" y="5157216"/>
            <a:ext cx="7985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35664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https://consult.kdkconslt-sngyouijm.com/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2103120" y="5577840"/>
            <a:ext cx="7985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6615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KIDUKIコンサルティング産業医事務所（東京・新橋）　代表　宮部 大輔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6615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KIDUKIコンサルティング産業医事務所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615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Hiragino Kaku Gothic ProN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Hiragino Kaku Gothic ProN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KIDUKIコンサルティング産業医事務所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KIDUKI サービスのご案内 2026.08</dc:title>
  <dc:subject>PptxGenJS Presentation</dc:subject>
  <dc:creator>KIDUKIコンサルティング産業医事務所</dc:creator>
  <cp:lastModifiedBy>KIDUKIコンサルティング産業医事務所</cp:lastModifiedBy>
  <cp:revision>1</cp:revision>
  <dcterms:created xsi:type="dcterms:W3CDTF">2026-08-06T01:12:19Z</dcterms:created>
  <dcterms:modified xsi:type="dcterms:W3CDTF">2026-08-06T01:12:19Z</dcterms:modified>
</cp:coreProperties>
</file>