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49640" y="-2194560"/>
            <a:ext cx="6035040" cy="6035040"/>
          </a:xfrm>
          <a:prstGeom prst="ellipse">
            <a:avLst/>
          </a:prstGeom>
          <a:solidFill>
            <a:srgbClr val="F1F5F2"/>
          </a:solidFill>
          <a:ln/>
        </p:spPr>
      </p:sp>
      <p:sp>
        <p:nvSpPr>
          <p:cNvPr id="3" name="Shape 1"/>
          <p:cNvSpPr/>
          <p:nvPr/>
        </p:nvSpPr>
        <p:spPr>
          <a:xfrm>
            <a:off x="9921240" y="3246120"/>
            <a:ext cx="3291840" cy="3291840"/>
          </a:xfrm>
          <a:prstGeom prst="ellipse">
            <a:avLst/>
          </a:prstGeom>
          <a:ln w="15875">
            <a:solidFill>
              <a:srgbClr val="D6E0D9"/>
            </a:solidFill>
            <a:prstDash val="solid"/>
          </a:ln>
        </p:spPr>
      </p:sp>
      <p:sp>
        <p:nvSpPr>
          <p:cNvPr id="4" name="Text 2"/>
          <p:cNvSpPr/>
          <p:nvPr/>
        </p:nvSpPr>
        <p:spPr>
          <a:xfrm>
            <a:off x="640080" y="566928"/>
            <a:ext cx="7315200" cy="365760"/>
          </a:xfrm>
          <a:prstGeom prst="rect">
            <a:avLst/>
          </a:prstGeom>
          <a:noFill/>
          <a:ln/>
        </p:spPr>
        <p:txBody>
          <a:bodyPr wrap="square" lIns="0" tIns="0" rIns="0" bIns="0" rtlCol="0" anchor="t"/>
          <a:lstStyle/>
          <a:p>
            <a:pPr algn="l" indent="0" marL="0">
              <a:lnSpc>
                <a:spcPct val="130000"/>
              </a:lnSpc>
              <a:buNone/>
            </a:pPr>
            <a:r>
              <a:rPr lang="en-US" sz="1600" b="1" spc="200" kern="0" dirty="0">
                <a:solidFill>
                  <a:srgbClr val="1A4D3A"/>
                </a:solidFill>
                <a:latin typeface="Hiragino Kaku Gothic ProN" pitchFamily="34" charset="0"/>
                <a:ea typeface="Hiragino Kaku Gothic ProN" pitchFamily="34" charset="-122"/>
                <a:cs typeface="Hiragino Kaku Gothic ProN" pitchFamily="34" charset="-120"/>
              </a:rPr>
              <a:t>CASETRA</a:t>
            </a:r>
            <a:endParaRPr lang="en-US" sz="1600" dirty="0"/>
          </a:p>
        </p:txBody>
      </p:sp>
      <p:sp>
        <p:nvSpPr>
          <p:cNvPr id="5" name="Text 3"/>
          <p:cNvSpPr/>
          <p:nvPr/>
        </p:nvSpPr>
        <p:spPr>
          <a:xfrm>
            <a:off x="640080" y="960120"/>
            <a:ext cx="8229600" cy="274320"/>
          </a:xfrm>
          <a:prstGeom prst="rect">
            <a:avLst/>
          </a:prstGeom>
          <a:noFill/>
          <a:ln/>
        </p:spPr>
        <p:txBody>
          <a:bodyPr wrap="square" lIns="0" tIns="0" rIns="0" bIns="0" rtlCol="0" anchor="t"/>
          <a:lstStyle/>
          <a:p>
            <a:pPr algn="l" indent="0" marL="0">
              <a:lnSpc>
                <a:spcPct val="130000"/>
              </a:lnSpc>
              <a:buNone/>
            </a:pPr>
            <a:r>
              <a:rPr lang="en-US" sz="1000" dirty="0">
                <a:solidFill>
                  <a:srgbClr val="6B7570"/>
                </a:solidFill>
                <a:latin typeface="Hiragino Kaku Gothic ProN" pitchFamily="34" charset="0"/>
                <a:ea typeface="Hiragino Kaku Gothic ProN" pitchFamily="34" charset="-122"/>
                <a:cs typeface="Hiragino Kaku Gothic ProN" pitchFamily="34" charset="-120"/>
              </a:rPr>
              <a:t>産業保健の案件管理システム｜サービスのご案内　2026年8月</a:t>
            </a:r>
            <a:endParaRPr lang="en-US" sz="1000" dirty="0"/>
          </a:p>
        </p:txBody>
      </p:sp>
      <p:sp>
        <p:nvSpPr>
          <p:cNvPr id="6" name="Text 4"/>
          <p:cNvSpPr/>
          <p:nvPr/>
        </p:nvSpPr>
        <p:spPr>
          <a:xfrm>
            <a:off x="640080" y="2286000"/>
            <a:ext cx="8778240" cy="1828800"/>
          </a:xfrm>
          <a:prstGeom prst="rect">
            <a:avLst/>
          </a:prstGeom>
          <a:noFill/>
          <a:ln/>
        </p:spPr>
        <p:txBody>
          <a:bodyPr wrap="square" lIns="0" tIns="0" rIns="0" bIns="0" rtlCol="0" anchor="t"/>
          <a:lstStyle/>
          <a:p>
            <a:pPr algn="l" indent="0" marL="0">
              <a:lnSpc>
                <a:spcPct val="135000"/>
              </a:lnSpc>
              <a:buNone/>
            </a:pPr>
            <a:r>
              <a:rPr lang="en-US" sz="3200" b="1" dirty="0">
                <a:solidFill>
                  <a:srgbClr val="0F3D2E"/>
                </a:solidFill>
                <a:latin typeface="Hiragino Mincho ProN" pitchFamily="34" charset="0"/>
                <a:ea typeface="Hiragino Mincho ProN" pitchFamily="34" charset="-122"/>
                <a:cs typeface="Hiragino Mincho ProN" pitchFamily="34" charset="-120"/>
              </a:rPr>
              <a:t>一人ひとりを、</a:t>
            </a:r>
            <a:endParaRPr lang="en-US" sz="3200" dirty="0"/>
          </a:p>
          <a:p>
            <a:pPr algn="l" indent="0" marL="0">
              <a:lnSpc>
                <a:spcPct val="135000"/>
              </a:lnSpc>
              <a:buNone/>
            </a:pPr>
            <a:r>
              <a:rPr lang="en-US" sz="3200" b="1" dirty="0">
                <a:solidFill>
                  <a:srgbClr val="0F3D2E"/>
                </a:solidFill>
                <a:latin typeface="Hiragino Mincho ProN" pitchFamily="34" charset="0"/>
                <a:ea typeface="Hiragino Mincho ProN" pitchFamily="34" charset="-122"/>
                <a:cs typeface="Hiragino Mincho ProN" pitchFamily="34" charset="-120"/>
              </a:rPr>
              <a:t>最後まで見届ける。</a:t>
            </a:r>
            <a:endParaRPr lang="en-US" sz="3200" dirty="0"/>
          </a:p>
        </p:txBody>
      </p:sp>
      <p:sp>
        <p:nvSpPr>
          <p:cNvPr id="7" name="Text 5"/>
          <p:cNvSpPr/>
          <p:nvPr/>
        </p:nvSpPr>
        <p:spPr>
          <a:xfrm>
            <a:off x="640080" y="4315968"/>
            <a:ext cx="8595360" cy="822960"/>
          </a:xfrm>
          <a:prstGeom prst="rect">
            <a:avLst/>
          </a:prstGeom>
          <a:noFill/>
          <a:ln/>
        </p:spPr>
        <p:txBody>
          <a:bodyPr wrap="square" lIns="0" tIns="0" rIns="0" bIns="0" rtlCol="0" anchor="t"/>
          <a:lstStyle/>
          <a:p>
            <a:pPr algn="l" indent="0" marL="0">
              <a:lnSpc>
                <a:spcPct val="145000"/>
              </a:lnSpc>
              <a:buNone/>
            </a:pPr>
            <a:r>
              <a:rPr lang="en-US" sz="1250" dirty="0">
                <a:solidFill>
                  <a:srgbClr val="6B7570"/>
                </a:solidFill>
                <a:latin typeface="Hiragino Kaku Gothic ProN" pitchFamily="34" charset="0"/>
                <a:ea typeface="Hiragino Kaku Gothic ProN" pitchFamily="34" charset="-122"/>
                <a:cs typeface="Hiragino Kaku Gothic ProN" pitchFamily="34" charset="-120"/>
              </a:rPr>
              <a:t>面談・措置・フォローアップを案件（Case）単位で管理し、期限と記録を確実に残す。</a:t>
            </a:r>
            <a:endParaRPr lang="en-US" sz="1250" dirty="0"/>
          </a:p>
          <a:p>
            <a:pPr algn="l" indent="0" marL="0">
              <a:lnSpc>
                <a:spcPct val="145000"/>
              </a:lnSpc>
              <a:buNone/>
            </a:pPr>
            <a:r>
              <a:rPr lang="en-US" sz="1250" dirty="0">
                <a:solidFill>
                  <a:srgbClr val="6B7570"/>
                </a:solidFill>
                <a:latin typeface="Hiragino Kaku Gothic ProN" pitchFamily="34" charset="0"/>
                <a:ea typeface="Hiragino Kaku Gothic ProN" pitchFamily="34" charset="-122"/>
                <a:cs typeface="Hiragino Kaku Gothic ProN" pitchFamily="34" charset="-120"/>
              </a:rPr>
              <a:t>産業医業務の実務から生まれた、企業のための管理システムです。</a:t>
            </a:r>
            <a:endParaRPr lang="en-US" sz="1250" dirty="0"/>
          </a:p>
        </p:txBody>
      </p:sp>
      <p:sp>
        <p:nvSpPr>
          <p:cNvPr id="8" name="Text 6"/>
          <p:cNvSpPr/>
          <p:nvPr/>
        </p:nvSpPr>
        <p:spPr>
          <a:xfrm>
            <a:off x="640080" y="5989320"/>
            <a:ext cx="10058400" cy="320040"/>
          </a:xfrm>
          <a:prstGeom prst="rect">
            <a:avLst/>
          </a:prstGeom>
          <a:noFill/>
          <a:ln/>
        </p:spPr>
        <p:txBody>
          <a:bodyPr wrap="square" lIns="0" tIns="0" rIns="0" bIns="0" rtlCol="0" anchor="t"/>
          <a:lstStyle/>
          <a:p>
            <a:pPr algn="l" indent="0" marL="0">
              <a:lnSpc>
                <a:spcPct val="130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開発・提供：KIDUKIコンサルティング産業医事務所（東京・新橋）</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産業医事務所が、自らの実務のために開発しました</a:t>
            </a:r>
            <a:endParaRPr lang="en-US" sz="2100" dirty="0"/>
          </a:p>
        </p:txBody>
      </p:sp>
      <p:sp>
        <p:nvSpPr>
          <p:cNvPr id="3" name="Text 1"/>
          <p:cNvSpPr/>
          <p:nvPr/>
        </p:nvSpPr>
        <p:spPr>
          <a:xfrm>
            <a:off x="640080" y="1417320"/>
            <a:ext cx="5394960" cy="868680"/>
          </a:xfrm>
          <a:prstGeom prst="rect">
            <a:avLst/>
          </a:prstGeom>
          <a:noFill/>
          <a:ln/>
        </p:spPr>
        <p:txBody>
          <a:bodyPr wrap="square" lIns="0" tIns="0" rIns="0" bIns="0" rtlCol="0" anchor="t"/>
          <a:lstStyle/>
          <a:p>
            <a:pPr algn="l" indent="0" marL="0">
              <a:lnSpc>
                <a:spcPct val="145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CASETRAは、KIDUKIコンサルティング産業医事務所が、自らの産業医業務を運用するために開発した案件管理システムです。</a:t>
            </a:r>
            <a:endParaRPr lang="en-US" sz="1200" dirty="0"/>
          </a:p>
        </p:txBody>
      </p:sp>
      <p:sp>
        <p:nvSpPr>
          <p:cNvPr id="4" name="Text 2"/>
          <p:cNvSpPr/>
          <p:nvPr/>
        </p:nvSpPr>
        <p:spPr>
          <a:xfrm>
            <a:off x="640080" y="2331720"/>
            <a:ext cx="5394960" cy="1371600"/>
          </a:xfrm>
          <a:prstGeom prst="rect">
            <a:avLst/>
          </a:prstGeom>
          <a:noFill/>
          <a:ln/>
        </p:spPr>
        <p:txBody>
          <a:bodyPr wrap="square" lIns="0" tIns="0" rIns="0" bIns="0" rtlCol="0" anchor="t"/>
          <a:lstStyle/>
          <a:p>
            <a:pPr algn="l" indent="0" marL="0">
              <a:lnSpc>
                <a:spcPct val="150000"/>
              </a:lnSpc>
              <a:buNone/>
            </a:pPr>
            <a:r>
              <a:rPr lang="en-US" sz="1100" dirty="0">
                <a:solidFill>
                  <a:srgbClr val="1A2421"/>
                </a:solidFill>
                <a:latin typeface="Hiragino Kaku Gothic ProN" pitchFamily="34" charset="0"/>
                <a:ea typeface="Hiragino Kaku Gothic ProN" pitchFamily="34" charset="-122"/>
                <a:cs typeface="Hiragino Kaku Gothic ProN" pitchFamily="34" charset="-120"/>
              </a:rPr>
              <a:t>面談の日程調整に費やされる往復メール。復職者の3か月後フォローの抜け。散在する記録と、監査のたびの資料の再構成——産業保健の実務で繰り返されるこうした問題を、ひとつずつシステムの仕様として解決してきました。</a:t>
            </a:r>
            <a:endParaRPr lang="en-US" sz="1100" dirty="0"/>
          </a:p>
        </p:txBody>
      </p:sp>
      <p:sp>
        <p:nvSpPr>
          <p:cNvPr id="5" name="Text 3"/>
          <p:cNvSpPr/>
          <p:nvPr/>
        </p:nvSpPr>
        <p:spPr>
          <a:xfrm>
            <a:off x="640080" y="3794760"/>
            <a:ext cx="5394960" cy="1371600"/>
          </a:xfrm>
          <a:prstGeom prst="rect">
            <a:avLst/>
          </a:prstGeom>
          <a:noFill/>
          <a:ln/>
        </p:spPr>
        <p:txBody>
          <a:bodyPr wrap="square" lIns="0" tIns="0" rIns="0" bIns="0" rtlCol="0" anchor="t"/>
          <a:lstStyle/>
          <a:p>
            <a:pPr algn="l" indent="0" marL="0">
              <a:lnSpc>
                <a:spcPct val="150000"/>
              </a:lnSpc>
              <a:buNone/>
            </a:pPr>
            <a:r>
              <a:rPr lang="en-US" sz="1100" dirty="0">
                <a:solidFill>
                  <a:srgbClr val="1A2421"/>
                </a:solidFill>
                <a:latin typeface="Hiragino Kaku Gothic ProN" pitchFamily="34" charset="0"/>
                <a:ea typeface="Hiragino Kaku Gothic ProN" pitchFamily="34" charset="-122"/>
                <a:cs typeface="Hiragino Kaku Gothic ProN" pitchFamily="34" charset="-120"/>
              </a:rPr>
              <a:t>現在も当事務所の全案件がCASETRA上で運用されており、実際の案件で確認できた手順だけを機能にしています。同じ仕組みを、自社で産業保健を運用する企業へ提供します。</a:t>
            </a:r>
            <a:endParaRPr lang="en-US" sz="1100" dirty="0"/>
          </a:p>
        </p:txBody>
      </p:sp>
      <p:sp>
        <p:nvSpPr>
          <p:cNvPr id="6" name="Text 4"/>
          <p:cNvSpPr/>
          <p:nvPr/>
        </p:nvSpPr>
        <p:spPr>
          <a:xfrm>
            <a:off x="6400800" y="1417320"/>
            <a:ext cx="5150815" cy="320040"/>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実務由来である、ということ</a:t>
            </a:r>
            <a:endParaRPr lang="en-US" sz="1250" dirty="0"/>
          </a:p>
        </p:txBody>
      </p:sp>
      <p:sp>
        <p:nvSpPr>
          <p:cNvPr id="7" name="Shape 5"/>
          <p:cNvSpPr/>
          <p:nvPr/>
        </p:nvSpPr>
        <p:spPr>
          <a:xfrm>
            <a:off x="6400800" y="1874520"/>
            <a:ext cx="5150815" cy="1298448"/>
          </a:xfrm>
          <a:prstGeom prst="roundRect">
            <a:avLst>
              <a:gd name="adj" fmla="val 3873"/>
            </a:avLst>
          </a:prstGeom>
          <a:solidFill>
            <a:srgbClr val="F1F5F2"/>
          </a:solidFill>
          <a:ln w="12700">
            <a:solidFill>
              <a:srgbClr val="D6E0D9"/>
            </a:solidFill>
            <a:prstDash val="solid"/>
          </a:ln>
        </p:spPr>
      </p:sp>
      <p:sp>
        <p:nvSpPr>
          <p:cNvPr id="8" name="Shape 6"/>
          <p:cNvSpPr/>
          <p:nvPr/>
        </p:nvSpPr>
        <p:spPr>
          <a:xfrm>
            <a:off x="6601968" y="2057400"/>
            <a:ext cx="274320" cy="274320"/>
          </a:xfrm>
          <a:prstGeom prst="ellipse">
            <a:avLst/>
          </a:prstGeom>
          <a:solidFill>
            <a:srgbClr val="1A4D3A"/>
          </a:solidFill>
          <a:ln/>
        </p:spPr>
      </p:sp>
      <p:sp>
        <p:nvSpPr>
          <p:cNvPr id="9" name="Text 7"/>
          <p:cNvSpPr/>
          <p:nvPr/>
        </p:nvSpPr>
        <p:spPr>
          <a:xfrm>
            <a:off x="6510528" y="2029968"/>
            <a:ext cx="457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Kaku Gothic ProN" pitchFamily="34" charset="0"/>
                <a:ea typeface="Hiragino Kaku Gothic ProN" pitchFamily="34" charset="-122"/>
                <a:cs typeface="Hiragino Kaku Gothic ProN" pitchFamily="34" charset="-120"/>
              </a:rPr>
              <a:t>1</a:t>
            </a:r>
            <a:endParaRPr lang="en-US" sz="1100" dirty="0"/>
          </a:p>
        </p:txBody>
      </p:sp>
      <p:sp>
        <p:nvSpPr>
          <p:cNvPr id="10" name="Text 8"/>
          <p:cNvSpPr/>
          <p:nvPr/>
        </p:nvSpPr>
        <p:spPr>
          <a:xfrm>
            <a:off x="7004304" y="2029968"/>
            <a:ext cx="4373575" cy="292608"/>
          </a:xfrm>
          <a:prstGeom prst="rect">
            <a:avLst/>
          </a:prstGeom>
          <a:noFill/>
          <a:ln/>
        </p:spPr>
        <p:txBody>
          <a:bodyPr wrap="square" lIns="0" tIns="0" rIns="0" bIns="0" rtlCol="0" anchor="t"/>
          <a:lstStyle/>
          <a:p>
            <a:pPr algn="l" indent="0" marL="0">
              <a:lnSpc>
                <a:spcPct val="130000"/>
              </a:lnSpc>
              <a:buNone/>
            </a:pPr>
            <a:r>
              <a:rPr lang="en-US" sz="1150" b="1" dirty="0">
                <a:solidFill>
                  <a:srgbClr val="0F3D2E"/>
                </a:solidFill>
                <a:latin typeface="Hiragino Kaku Gothic ProN" pitchFamily="34" charset="0"/>
                <a:ea typeface="Hiragino Kaku Gothic ProN" pitchFamily="34" charset="-122"/>
                <a:cs typeface="Hiragino Kaku Gothic ProN" pitchFamily="34" charset="-120"/>
              </a:rPr>
              <a:t>画面と手順が、実務の順番どおり</a:t>
            </a:r>
            <a:endParaRPr lang="en-US" sz="1150" dirty="0"/>
          </a:p>
        </p:txBody>
      </p:sp>
      <p:sp>
        <p:nvSpPr>
          <p:cNvPr id="11" name="Text 9"/>
          <p:cNvSpPr/>
          <p:nvPr/>
        </p:nvSpPr>
        <p:spPr>
          <a:xfrm>
            <a:off x="7004304" y="2350008"/>
            <a:ext cx="4327855" cy="731520"/>
          </a:xfrm>
          <a:prstGeom prst="rect">
            <a:avLst/>
          </a:prstGeom>
          <a:noFill/>
          <a:ln/>
        </p:spPr>
        <p:txBody>
          <a:bodyPr wrap="square" lIns="0" tIns="0" rIns="0" bIns="0" rtlCol="0" anchor="t"/>
          <a:lstStyle/>
          <a:p>
            <a:pPr algn="l" indent="0" marL="0">
              <a:lnSpc>
                <a:spcPct val="128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起票から完了まで、産業保健業務の実際の流れに沿って設計されています。</a:t>
            </a:r>
            <a:endParaRPr lang="en-US" sz="950" dirty="0"/>
          </a:p>
        </p:txBody>
      </p:sp>
      <p:sp>
        <p:nvSpPr>
          <p:cNvPr id="12" name="Shape 10"/>
          <p:cNvSpPr/>
          <p:nvPr/>
        </p:nvSpPr>
        <p:spPr>
          <a:xfrm>
            <a:off x="6400800" y="3319272"/>
            <a:ext cx="5150815" cy="1298448"/>
          </a:xfrm>
          <a:prstGeom prst="roundRect">
            <a:avLst>
              <a:gd name="adj" fmla="val 3873"/>
            </a:avLst>
          </a:prstGeom>
          <a:solidFill>
            <a:srgbClr val="F1F5F2"/>
          </a:solidFill>
          <a:ln w="12700">
            <a:solidFill>
              <a:srgbClr val="D6E0D9"/>
            </a:solidFill>
            <a:prstDash val="solid"/>
          </a:ln>
        </p:spPr>
      </p:sp>
      <p:sp>
        <p:nvSpPr>
          <p:cNvPr id="13" name="Shape 11"/>
          <p:cNvSpPr/>
          <p:nvPr/>
        </p:nvSpPr>
        <p:spPr>
          <a:xfrm>
            <a:off x="6601968" y="3502152"/>
            <a:ext cx="274320" cy="274320"/>
          </a:xfrm>
          <a:prstGeom prst="ellipse">
            <a:avLst/>
          </a:prstGeom>
          <a:solidFill>
            <a:srgbClr val="1A4D3A"/>
          </a:solidFill>
          <a:ln/>
        </p:spPr>
      </p:sp>
      <p:sp>
        <p:nvSpPr>
          <p:cNvPr id="14" name="Text 12"/>
          <p:cNvSpPr/>
          <p:nvPr/>
        </p:nvSpPr>
        <p:spPr>
          <a:xfrm>
            <a:off x="6510528" y="3474720"/>
            <a:ext cx="457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Kaku Gothic ProN" pitchFamily="34" charset="0"/>
                <a:ea typeface="Hiragino Kaku Gothic ProN" pitchFamily="34" charset="-122"/>
                <a:cs typeface="Hiragino Kaku Gothic ProN" pitchFamily="34" charset="-120"/>
              </a:rPr>
              <a:t>2</a:t>
            </a:r>
            <a:endParaRPr lang="en-US" sz="1100" dirty="0"/>
          </a:p>
        </p:txBody>
      </p:sp>
      <p:sp>
        <p:nvSpPr>
          <p:cNvPr id="15" name="Text 13"/>
          <p:cNvSpPr/>
          <p:nvPr/>
        </p:nvSpPr>
        <p:spPr>
          <a:xfrm>
            <a:off x="7004304" y="3474720"/>
            <a:ext cx="4373575" cy="292608"/>
          </a:xfrm>
          <a:prstGeom prst="rect">
            <a:avLst/>
          </a:prstGeom>
          <a:noFill/>
          <a:ln/>
        </p:spPr>
        <p:txBody>
          <a:bodyPr wrap="square" lIns="0" tIns="0" rIns="0" bIns="0" rtlCol="0" anchor="t"/>
          <a:lstStyle/>
          <a:p>
            <a:pPr algn="l" indent="0" marL="0">
              <a:lnSpc>
                <a:spcPct val="130000"/>
              </a:lnSpc>
              <a:buNone/>
            </a:pPr>
            <a:r>
              <a:rPr lang="en-US" sz="1150" b="1" dirty="0">
                <a:solidFill>
                  <a:srgbClr val="0F3D2E"/>
                </a:solidFill>
                <a:latin typeface="Hiragino Kaku Gothic ProN" pitchFamily="34" charset="0"/>
                <a:ea typeface="Hiragino Kaku Gothic ProN" pitchFamily="34" charset="-122"/>
                <a:cs typeface="Hiragino Kaku Gothic ProN" pitchFamily="34" charset="-120"/>
              </a:rPr>
              <a:t>記録は「提出できる形」で残る</a:t>
            </a:r>
            <a:endParaRPr lang="en-US" sz="1150" dirty="0"/>
          </a:p>
        </p:txBody>
      </p:sp>
      <p:sp>
        <p:nvSpPr>
          <p:cNvPr id="16" name="Text 14"/>
          <p:cNvSpPr/>
          <p:nvPr/>
        </p:nvSpPr>
        <p:spPr>
          <a:xfrm>
            <a:off x="7004304" y="3794760"/>
            <a:ext cx="4327855" cy="731520"/>
          </a:xfrm>
          <a:prstGeom prst="rect">
            <a:avLst/>
          </a:prstGeom>
          <a:noFill/>
          <a:ln/>
        </p:spPr>
        <p:txBody>
          <a:bodyPr wrap="square" lIns="0" tIns="0" rIns="0" bIns="0" rtlCol="0" anchor="t"/>
          <a:lstStyle/>
          <a:p>
            <a:pPr algn="l" indent="0" marL="0">
              <a:lnSpc>
                <a:spcPct val="128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監督署の調査・監査・係争の際に、案件ごとの経過を一式で出力できます。</a:t>
            </a:r>
            <a:endParaRPr lang="en-US" sz="950" dirty="0"/>
          </a:p>
        </p:txBody>
      </p:sp>
      <p:sp>
        <p:nvSpPr>
          <p:cNvPr id="17" name="Shape 15"/>
          <p:cNvSpPr/>
          <p:nvPr/>
        </p:nvSpPr>
        <p:spPr>
          <a:xfrm>
            <a:off x="6400800" y="4764024"/>
            <a:ext cx="5150815" cy="1298448"/>
          </a:xfrm>
          <a:prstGeom prst="roundRect">
            <a:avLst>
              <a:gd name="adj" fmla="val 3873"/>
            </a:avLst>
          </a:prstGeom>
          <a:solidFill>
            <a:srgbClr val="F1F5F2"/>
          </a:solidFill>
          <a:ln w="12700">
            <a:solidFill>
              <a:srgbClr val="D6E0D9"/>
            </a:solidFill>
            <a:prstDash val="solid"/>
          </a:ln>
        </p:spPr>
      </p:sp>
      <p:sp>
        <p:nvSpPr>
          <p:cNvPr id="18" name="Shape 16"/>
          <p:cNvSpPr/>
          <p:nvPr/>
        </p:nvSpPr>
        <p:spPr>
          <a:xfrm>
            <a:off x="6601968" y="4946904"/>
            <a:ext cx="274320" cy="274320"/>
          </a:xfrm>
          <a:prstGeom prst="ellipse">
            <a:avLst/>
          </a:prstGeom>
          <a:solidFill>
            <a:srgbClr val="1A4D3A"/>
          </a:solidFill>
          <a:ln/>
        </p:spPr>
      </p:sp>
      <p:sp>
        <p:nvSpPr>
          <p:cNvPr id="19" name="Text 17"/>
          <p:cNvSpPr/>
          <p:nvPr/>
        </p:nvSpPr>
        <p:spPr>
          <a:xfrm>
            <a:off x="6510528" y="4919472"/>
            <a:ext cx="4572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Hiragino Kaku Gothic ProN" pitchFamily="34" charset="0"/>
                <a:ea typeface="Hiragino Kaku Gothic ProN" pitchFamily="34" charset="-122"/>
                <a:cs typeface="Hiragino Kaku Gothic ProN" pitchFamily="34" charset="-120"/>
              </a:rPr>
              <a:t>3</a:t>
            </a:r>
            <a:endParaRPr lang="en-US" sz="1100" dirty="0"/>
          </a:p>
        </p:txBody>
      </p:sp>
      <p:sp>
        <p:nvSpPr>
          <p:cNvPr id="20" name="Text 18"/>
          <p:cNvSpPr/>
          <p:nvPr/>
        </p:nvSpPr>
        <p:spPr>
          <a:xfrm>
            <a:off x="7004304" y="4919472"/>
            <a:ext cx="4373575" cy="292608"/>
          </a:xfrm>
          <a:prstGeom prst="rect">
            <a:avLst/>
          </a:prstGeom>
          <a:noFill/>
          <a:ln/>
        </p:spPr>
        <p:txBody>
          <a:bodyPr wrap="square" lIns="0" tIns="0" rIns="0" bIns="0" rtlCol="0" anchor="t"/>
          <a:lstStyle/>
          <a:p>
            <a:pPr algn="l" indent="0" marL="0">
              <a:lnSpc>
                <a:spcPct val="130000"/>
              </a:lnSpc>
              <a:buNone/>
            </a:pPr>
            <a:r>
              <a:rPr lang="en-US" sz="1150" b="1" dirty="0">
                <a:solidFill>
                  <a:srgbClr val="0F3D2E"/>
                </a:solidFill>
                <a:latin typeface="Hiragino Kaku Gothic ProN" pitchFamily="34" charset="0"/>
                <a:ea typeface="Hiragino Kaku Gothic ProN" pitchFamily="34" charset="-122"/>
                <a:cs typeface="Hiragino Kaku Gothic ProN" pitchFamily="34" charset="-120"/>
              </a:rPr>
              <a:t>決定の権限は、会社に残る</a:t>
            </a:r>
            <a:endParaRPr lang="en-US" sz="1150" dirty="0"/>
          </a:p>
        </p:txBody>
      </p:sp>
      <p:sp>
        <p:nvSpPr>
          <p:cNvPr id="21" name="Text 19"/>
          <p:cNvSpPr/>
          <p:nvPr/>
        </p:nvSpPr>
        <p:spPr>
          <a:xfrm>
            <a:off x="7004304" y="5239512"/>
            <a:ext cx="4327855" cy="731520"/>
          </a:xfrm>
          <a:prstGeom prst="rect">
            <a:avLst/>
          </a:prstGeom>
          <a:noFill/>
          <a:ln/>
        </p:spPr>
        <p:txBody>
          <a:bodyPr wrap="square" lIns="0" tIns="0" rIns="0" bIns="0" rtlCol="0" anchor="t"/>
          <a:lstStyle/>
          <a:p>
            <a:pPr algn="l" indent="0" marL="0">
              <a:lnSpc>
                <a:spcPct val="128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就業上の措置の決定は事業者が行うもの。システムは判断材料の整理と、決定の記録を担います。</a:t>
            </a:r>
            <a:endParaRPr lang="en-US" sz="950" dirty="0"/>
          </a:p>
        </p:txBody>
      </p:sp>
      <p:sp>
        <p:nvSpPr>
          <p:cNvPr id="22" name="Text 20"/>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23" name="Text 21"/>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産業保健の管理で、こんな状態になっていませんか</a:t>
            </a:r>
            <a:endParaRPr lang="en-US" sz="2100" dirty="0"/>
          </a:p>
        </p:txBody>
      </p:sp>
      <p:sp>
        <p:nvSpPr>
          <p:cNvPr id="3" name="Shape 1"/>
          <p:cNvSpPr/>
          <p:nvPr/>
        </p:nvSpPr>
        <p:spPr>
          <a:xfrm>
            <a:off x="640080" y="1600200"/>
            <a:ext cx="3511296" cy="1874520"/>
          </a:xfrm>
          <a:prstGeom prst="roundRect">
            <a:avLst>
              <a:gd name="adj" fmla="val 2683"/>
            </a:avLst>
          </a:prstGeom>
          <a:solidFill>
            <a:srgbClr val="FFFFFF"/>
          </a:solidFill>
          <a:ln w="12700">
            <a:solidFill>
              <a:srgbClr val="D6E0D9"/>
            </a:solidFill>
            <a:prstDash val="solid"/>
          </a:ln>
        </p:spPr>
      </p:sp>
      <p:sp>
        <p:nvSpPr>
          <p:cNvPr id="4" name="Shape 2"/>
          <p:cNvSpPr/>
          <p:nvPr/>
        </p:nvSpPr>
        <p:spPr>
          <a:xfrm>
            <a:off x="859536" y="1837944"/>
            <a:ext cx="329184" cy="329184"/>
          </a:xfrm>
          <a:prstGeom prst="ellipse">
            <a:avLst/>
          </a:prstGeom>
          <a:solidFill>
            <a:srgbClr val="1A4D3A"/>
          </a:solidFill>
          <a:ln/>
        </p:spPr>
      </p:sp>
      <p:sp>
        <p:nvSpPr>
          <p:cNvPr id="5" name="Text 3"/>
          <p:cNvSpPr/>
          <p:nvPr/>
        </p:nvSpPr>
        <p:spPr>
          <a:xfrm>
            <a:off x="768096" y="1810512"/>
            <a:ext cx="51206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1</a:t>
            </a:r>
            <a:endParaRPr lang="en-US" sz="1200" dirty="0"/>
          </a:p>
        </p:txBody>
      </p:sp>
      <p:sp>
        <p:nvSpPr>
          <p:cNvPr id="6" name="Text 4"/>
          <p:cNvSpPr/>
          <p:nvPr/>
        </p:nvSpPr>
        <p:spPr>
          <a:xfrm>
            <a:off x="1335024" y="1874520"/>
            <a:ext cx="2596896" cy="365760"/>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次の一手が見えない</a:t>
            </a:r>
            <a:endParaRPr lang="en-US" sz="1250" dirty="0"/>
          </a:p>
        </p:txBody>
      </p:sp>
      <p:sp>
        <p:nvSpPr>
          <p:cNvPr id="7" name="Text 5"/>
          <p:cNvSpPr/>
          <p:nvPr/>
        </p:nvSpPr>
        <p:spPr>
          <a:xfrm>
            <a:off x="896112" y="2468880"/>
            <a:ext cx="2999232" cy="822960"/>
          </a:xfrm>
          <a:prstGeom prst="rect">
            <a:avLst/>
          </a:prstGeom>
          <a:noFill/>
          <a:ln/>
        </p:spPr>
        <p:txBody>
          <a:bodyPr wrap="square" lIns="0" tIns="0" rIns="0" bIns="0" rtlCol="0" anchor="t"/>
          <a:lstStyle/>
          <a:p>
            <a:pPr algn="l" indent="0" marL="0">
              <a:lnSpc>
                <a:spcPct val="135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情報がメール・口頭・Excelに分かれ、いま誰の対応待ちなのかが分からなくなる。</a:t>
            </a:r>
            <a:endParaRPr lang="en-US" sz="1050" dirty="0"/>
          </a:p>
        </p:txBody>
      </p:sp>
      <p:sp>
        <p:nvSpPr>
          <p:cNvPr id="8" name="Shape 6"/>
          <p:cNvSpPr/>
          <p:nvPr/>
        </p:nvSpPr>
        <p:spPr>
          <a:xfrm>
            <a:off x="4334256" y="1600200"/>
            <a:ext cx="3511296" cy="1874520"/>
          </a:xfrm>
          <a:prstGeom prst="roundRect">
            <a:avLst>
              <a:gd name="adj" fmla="val 2683"/>
            </a:avLst>
          </a:prstGeom>
          <a:solidFill>
            <a:srgbClr val="FFFFFF"/>
          </a:solidFill>
          <a:ln w="12700">
            <a:solidFill>
              <a:srgbClr val="D6E0D9"/>
            </a:solidFill>
            <a:prstDash val="solid"/>
          </a:ln>
        </p:spPr>
      </p:sp>
      <p:sp>
        <p:nvSpPr>
          <p:cNvPr id="9" name="Shape 7"/>
          <p:cNvSpPr/>
          <p:nvPr/>
        </p:nvSpPr>
        <p:spPr>
          <a:xfrm>
            <a:off x="4553712" y="1837944"/>
            <a:ext cx="329184" cy="329184"/>
          </a:xfrm>
          <a:prstGeom prst="ellipse">
            <a:avLst/>
          </a:prstGeom>
          <a:solidFill>
            <a:srgbClr val="1A4D3A"/>
          </a:solidFill>
          <a:ln/>
        </p:spPr>
      </p:sp>
      <p:sp>
        <p:nvSpPr>
          <p:cNvPr id="10" name="Text 8"/>
          <p:cNvSpPr/>
          <p:nvPr/>
        </p:nvSpPr>
        <p:spPr>
          <a:xfrm>
            <a:off x="4462272" y="1810512"/>
            <a:ext cx="51206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2</a:t>
            </a:r>
            <a:endParaRPr lang="en-US" sz="1200" dirty="0"/>
          </a:p>
        </p:txBody>
      </p:sp>
      <p:sp>
        <p:nvSpPr>
          <p:cNvPr id="11" name="Text 9"/>
          <p:cNvSpPr/>
          <p:nvPr/>
        </p:nvSpPr>
        <p:spPr>
          <a:xfrm>
            <a:off x="5029200" y="1874520"/>
            <a:ext cx="2596896" cy="365760"/>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期限が追えない</a:t>
            </a:r>
            <a:endParaRPr lang="en-US" sz="1250" dirty="0"/>
          </a:p>
        </p:txBody>
      </p:sp>
      <p:sp>
        <p:nvSpPr>
          <p:cNvPr id="12" name="Text 10"/>
          <p:cNvSpPr/>
          <p:nvPr/>
        </p:nvSpPr>
        <p:spPr>
          <a:xfrm>
            <a:off x="4590288" y="2468880"/>
            <a:ext cx="2999232" cy="822960"/>
          </a:xfrm>
          <a:prstGeom prst="rect">
            <a:avLst/>
          </a:prstGeom>
          <a:noFill/>
          <a:ln/>
        </p:spPr>
        <p:txBody>
          <a:bodyPr wrap="square" lIns="0" tIns="0" rIns="0" bIns="0" rtlCol="0" anchor="t"/>
          <a:lstStyle/>
          <a:p>
            <a:pPr algn="l" indent="0" marL="0">
              <a:lnSpc>
                <a:spcPct val="135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面談、措置の見直し、フォローの期日が別々に管理され、抜け漏れが起きる。</a:t>
            </a:r>
            <a:endParaRPr lang="en-US" sz="1050" dirty="0"/>
          </a:p>
        </p:txBody>
      </p:sp>
      <p:sp>
        <p:nvSpPr>
          <p:cNvPr id="13" name="Shape 11"/>
          <p:cNvSpPr/>
          <p:nvPr/>
        </p:nvSpPr>
        <p:spPr>
          <a:xfrm>
            <a:off x="8028432" y="1600200"/>
            <a:ext cx="3511296" cy="1874520"/>
          </a:xfrm>
          <a:prstGeom prst="roundRect">
            <a:avLst>
              <a:gd name="adj" fmla="val 2683"/>
            </a:avLst>
          </a:prstGeom>
          <a:solidFill>
            <a:srgbClr val="FFFFFF"/>
          </a:solidFill>
          <a:ln w="12700">
            <a:solidFill>
              <a:srgbClr val="D6E0D9"/>
            </a:solidFill>
            <a:prstDash val="solid"/>
          </a:ln>
        </p:spPr>
      </p:sp>
      <p:sp>
        <p:nvSpPr>
          <p:cNvPr id="14" name="Shape 12"/>
          <p:cNvSpPr/>
          <p:nvPr/>
        </p:nvSpPr>
        <p:spPr>
          <a:xfrm>
            <a:off x="8247888" y="1837944"/>
            <a:ext cx="329184" cy="329184"/>
          </a:xfrm>
          <a:prstGeom prst="ellipse">
            <a:avLst/>
          </a:prstGeom>
          <a:solidFill>
            <a:srgbClr val="1A4D3A"/>
          </a:solidFill>
          <a:ln/>
        </p:spPr>
      </p:sp>
      <p:sp>
        <p:nvSpPr>
          <p:cNvPr id="15" name="Text 13"/>
          <p:cNvSpPr/>
          <p:nvPr/>
        </p:nvSpPr>
        <p:spPr>
          <a:xfrm>
            <a:off x="8156448" y="1810512"/>
            <a:ext cx="51206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3</a:t>
            </a:r>
            <a:endParaRPr lang="en-US" sz="1200" dirty="0"/>
          </a:p>
        </p:txBody>
      </p:sp>
      <p:sp>
        <p:nvSpPr>
          <p:cNvPr id="16" name="Text 14"/>
          <p:cNvSpPr/>
          <p:nvPr/>
        </p:nvSpPr>
        <p:spPr>
          <a:xfrm>
            <a:off x="8723376" y="1874520"/>
            <a:ext cx="2596896" cy="365760"/>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あとから説明できない</a:t>
            </a:r>
            <a:endParaRPr lang="en-US" sz="1250" dirty="0"/>
          </a:p>
        </p:txBody>
      </p:sp>
      <p:sp>
        <p:nvSpPr>
          <p:cNvPr id="17" name="Text 15"/>
          <p:cNvSpPr/>
          <p:nvPr/>
        </p:nvSpPr>
        <p:spPr>
          <a:xfrm>
            <a:off x="8284464" y="2468880"/>
            <a:ext cx="2999232" cy="822960"/>
          </a:xfrm>
          <a:prstGeom prst="rect">
            <a:avLst/>
          </a:prstGeom>
          <a:noFill/>
          <a:ln/>
        </p:spPr>
        <p:txBody>
          <a:bodyPr wrap="square" lIns="0" tIns="0" rIns="0" bIns="0" rtlCol="0" anchor="t"/>
          <a:lstStyle/>
          <a:p>
            <a:pPr algn="l" indent="0" marL="0">
              <a:lnSpc>
                <a:spcPct val="135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誰が、いつ、何を根拠に決めたのかを、一続きの記録として出せない。</a:t>
            </a:r>
            <a:endParaRPr lang="en-US" sz="1050" dirty="0"/>
          </a:p>
        </p:txBody>
      </p:sp>
      <p:sp>
        <p:nvSpPr>
          <p:cNvPr id="18" name="Shape 16"/>
          <p:cNvSpPr/>
          <p:nvPr/>
        </p:nvSpPr>
        <p:spPr>
          <a:xfrm>
            <a:off x="640080" y="3886200"/>
            <a:ext cx="10911535" cy="1600200"/>
          </a:xfrm>
          <a:prstGeom prst="roundRect">
            <a:avLst>
              <a:gd name="adj" fmla="val 3143"/>
            </a:avLst>
          </a:prstGeom>
          <a:solidFill>
            <a:srgbClr val="F1F5F2"/>
          </a:solidFill>
          <a:ln w="12700">
            <a:solidFill>
              <a:srgbClr val="D6E0D9"/>
            </a:solidFill>
            <a:prstDash val="solid"/>
          </a:ln>
        </p:spPr>
      </p:sp>
      <p:sp>
        <p:nvSpPr>
          <p:cNvPr id="19" name="Text 17"/>
          <p:cNvSpPr/>
          <p:nvPr/>
        </p:nvSpPr>
        <p:spPr>
          <a:xfrm>
            <a:off x="960120" y="4160520"/>
            <a:ext cx="2011680" cy="365760"/>
          </a:xfrm>
          <a:prstGeom prst="rect">
            <a:avLst/>
          </a:prstGeom>
          <a:noFill/>
          <a:ln/>
        </p:spPr>
        <p:txBody>
          <a:bodyPr wrap="square" lIns="0" tIns="0" rIns="0" bIns="0" rtlCol="0" anchor="t"/>
          <a:lstStyle/>
          <a:p>
            <a:pPr algn="l" indent="0" marL="0">
              <a:lnSpc>
                <a:spcPct val="130000"/>
              </a:lnSpc>
              <a:buNone/>
            </a:pPr>
            <a:r>
              <a:rPr lang="en-US" sz="1250" b="1" dirty="0">
                <a:solidFill>
                  <a:srgbClr val="2E6B53"/>
                </a:solidFill>
                <a:latin typeface="Hiragino Kaku Gothic ProN" pitchFamily="34" charset="0"/>
                <a:ea typeface="Hiragino Kaku Gothic ProN" pitchFamily="34" charset="-122"/>
                <a:cs typeface="Hiragino Kaku Gothic ProN" pitchFamily="34" charset="-120"/>
              </a:rPr>
              <a:t>共通する原因</a:t>
            </a:r>
            <a:endParaRPr lang="en-US" sz="1250" dirty="0"/>
          </a:p>
        </p:txBody>
      </p:sp>
      <p:sp>
        <p:nvSpPr>
          <p:cNvPr id="20" name="Text 18"/>
          <p:cNvSpPr/>
          <p:nvPr/>
        </p:nvSpPr>
        <p:spPr>
          <a:xfrm>
            <a:off x="3017520" y="4160520"/>
            <a:ext cx="8168335" cy="1143000"/>
          </a:xfrm>
          <a:prstGeom prst="rect">
            <a:avLst/>
          </a:prstGeom>
          <a:noFill/>
          <a:ln/>
        </p:spPr>
        <p:txBody>
          <a:bodyPr wrap="square" lIns="0" tIns="0" rIns="0" bIns="0" rtlCol="0" anchor="t"/>
          <a:lstStyle/>
          <a:p>
            <a:pPr algn="l" indent="0" marL="0">
              <a:lnSpc>
                <a:spcPct val="150000"/>
              </a:lnSpc>
              <a:buNone/>
            </a:pPr>
            <a:r>
              <a:rPr lang="en-US" sz="1200" dirty="0">
                <a:solidFill>
                  <a:srgbClr val="1A2421"/>
                </a:solidFill>
                <a:latin typeface="Hiragino Kaku Gothic ProN" pitchFamily="34" charset="0"/>
                <a:ea typeface="Hiragino Kaku Gothic ProN" pitchFamily="34" charset="-122"/>
                <a:cs typeface="Hiragino Kaku Gothic ProN" pitchFamily="34" charset="-120"/>
              </a:rPr>
              <a:t>業務が「案件」として管理されていないことです。CASETRAは、一つひとつの対応を起票から完了まで案件単位で追跡し、期限・担当・記録をその案件に紐づけて管理します。担当者が交代しても、案件は止まりません。</a:t>
            </a:r>
            <a:endParaRPr lang="en-US" sz="1200" dirty="0"/>
          </a:p>
        </p:txBody>
      </p:sp>
      <p:sp>
        <p:nvSpPr>
          <p:cNvPr id="21" name="Text 19"/>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22" name="Text 20"/>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CASETRAでできること</a:t>
            </a:r>
            <a:endParaRPr lang="en-US" sz="2100" dirty="0"/>
          </a:p>
        </p:txBody>
      </p:sp>
      <p:sp>
        <p:nvSpPr>
          <p:cNvPr id="3" name="Shape 1"/>
          <p:cNvSpPr/>
          <p:nvPr/>
        </p:nvSpPr>
        <p:spPr>
          <a:xfrm>
            <a:off x="640080" y="1463040"/>
            <a:ext cx="3511296" cy="1737360"/>
          </a:xfrm>
          <a:prstGeom prst="roundRect">
            <a:avLst>
              <a:gd name="adj" fmla="val 2895"/>
            </a:avLst>
          </a:prstGeom>
          <a:solidFill>
            <a:srgbClr val="FFFFFF"/>
          </a:solidFill>
          <a:ln w="12700">
            <a:solidFill>
              <a:srgbClr val="D6E0D9"/>
            </a:solidFill>
            <a:prstDash val="solid"/>
          </a:ln>
        </p:spPr>
      </p:sp>
      <p:sp>
        <p:nvSpPr>
          <p:cNvPr id="4" name="Text 2"/>
          <p:cNvSpPr/>
          <p:nvPr/>
        </p:nvSpPr>
        <p:spPr>
          <a:xfrm>
            <a:off x="859536" y="1645920"/>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案件（Case）管理</a:t>
            </a:r>
            <a:endParaRPr lang="en-US" sz="1200" dirty="0"/>
          </a:p>
        </p:txBody>
      </p:sp>
      <p:sp>
        <p:nvSpPr>
          <p:cNvPr id="5" name="Text 3"/>
          <p:cNvSpPr/>
          <p:nvPr/>
        </p:nvSpPr>
        <p:spPr>
          <a:xfrm>
            <a:off x="859536" y="2029968"/>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起票から完了まで、状態・担当・期日を案件単位で管理します。担当者が交代しても案件は止まりません。</a:t>
            </a:r>
            <a:endParaRPr lang="en-US" sz="950" dirty="0"/>
          </a:p>
        </p:txBody>
      </p:sp>
      <p:sp>
        <p:nvSpPr>
          <p:cNvPr id="6" name="Shape 4"/>
          <p:cNvSpPr/>
          <p:nvPr/>
        </p:nvSpPr>
        <p:spPr>
          <a:xfrm>
            <a:off x="4334256" y="1463040"/>
            <a:ext cx="3511296" cy="1737360"/>
          </a:xfrm>
          <a:prstGeom prst="roundRect">
            <a:avLst>
              <a:gd name="adj" fmla="val 2895"/>
            </a:avLst>
          </a:prstGeom>
          <a:solidFill>
            <a:srgbClr val="FFFFFF"/>
          </a:solidFill>
          <a:ln w="12700">
            <a:solidFill>
              <a:srgbClr val="D6E0D9"/>
            </a:solidFill>
            <a:prstDash val="solid"/>
          </a:ln>
        </p:spPr>
      </p:sp>
      <p:sp>
        <p:nvSpPr>
          <p:cNvPr id="7" name="Text 5"/>
          <p:cNvSpPr/>
          <p:nvPr/>
        </p:nvSpPr>
        <p:spPr>
          <a:xfrm>
            <a:off x="4553712" y="1645920"/>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期限の自動管理</a:t>
            </a:r>
            <a:endParaRPr lang="en-US" sz="1200" dirty="0"/>
          </a:p>
        </p:txBody>
      </p:sp>
      <p:sp>
        <p:nvSpPr>
          <p:cNvPr id="8" name="Text 6"/>
          <p:cNvSpPr/>
          <p:nvPr/>
        </p:nvSpPr>
        <p:spPr>
          <a:xfrm>
            <a:off x="4553712" y="2029968"/>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再評価日やフォロー期日を登録すると、期日前に自動で通知。超過した場合は段階的にお知らせします。</a:t>
            </a:r>
            <a:endParaRPr lang="en-US" sz="950" dirty="0"/>
          </a:p>
        </p:txBody>
      </p:sp>
      <p:sp>
        <p:nvSpPr>
          <p:cNvPr id="9" name="Shape 7"/>
          <p:cNvSpPr/>
          <p:nvPr/>
        </p:nvSpPr>
        <p:spPr>
          <a:xfrm>
            <a:off x="8028432" y="1463040"/>
            <a:ext cx="3511296" cy="1737360"/>
          </a:xfrm>
          <a:prstGeom prst="roundRect">
            <a:avLst>
              <a:gd name="adj" fmla="val 2895"/>
            </a:avLst>
          </a:prstGeom>
          <a:solidFill>
            <a:srgbClr val="FFFFFF"/>
          </a:solidFill>
          <a:ln w="12700">
            <a:solidFill>
              <a:srgbClr val="D6E0D9"/>
            </a:solidFill>
            <a:prstDash val="solid"/>
          </a:ln>
        </p:spPr>
      </p:sp>
      <p:sp>
        <p:nvSpPr>
          <p:cNvPr id="10" name="Text 8"/>
          <p:cNvSpPr/>
          <p:nvPr/>
        </p:nvSpPr>
        <p:spPr>
          <a:xfrm>
            <a:off x="8247888" y="1645920"/>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面談予約</a:t>
            </a:r>
            <a:endParaRPr lang="en-US" sz="1200" dirty="0"/>
          </a:p>
        </p:txBody>
      </p:sp>
      <p:sp>
        <p:nvSpPr>
          <p:cNvPr id="11" name="Text 9"/>
          <p:cNvSpPr/>
          <p:nvPr/>
        </p:nvSpPr>
        <p:spPr>
          <a:xfrm>
            <a:off x="8247888" y="2029968"/>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空き枠から選ぶだけの予約で、日程調整の往復メールをなくします。予定はカレンダーに自動反映されます。</a:t>
            </a:r>
            <a:endParaRPr lang="en-US" sz="950" dirty="0"/>
          </a:p>
        </p:txBody>
      </p:sp>
      <p:sp>
        <p:nvSpPr>
          <p:cNvPr id="12" name="Shape 10"/>
          <p:cNvSpPr/>
          <p:nvPr/>
        </p:nvSpPr>
        <p:spPr>
          <a:xfrm>
            <a:off x="640080" y="3401568"/>
            <a:ext cx="3511296" cy="1737360"/>
          </a:xfrm>
          <a:prstGeom prst="roundRect">
            <a:avLst>
              <a:gd name="adj" fmla="val 2895"/>
            </a:avLst>
          </a:prstGeom>
          <a:solidFill>
            <a:srgbClr val="FFFFFF"/>
          </a:solidFill>
          <a:ln w="12700">
            <a:solidFill>
              <a:srgbClr val="D6E0D9"/>
            </a:solidFill>
            <a:prstDash val="solid"/>
          </a:ln>
        </p:spPr>
      </p:sp>
      <p:sp>
        <p:nvSpPr>
          <p:cNvPr id="13" name="Text 11"/>
          <p:cNvSpPr/>
          <p:nvPr/>
        </p:nvSpPr>
        <p:spPr>
          <a:xfrm>
            <a:off x="859536" y="3584448"/>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措置・是正の記録</a:t>
            </a:r>
            <a:endParaRPr lang="en-US" sz="1200" dirty="0"/>
          </a:p>
        </p:txBody>
      </p:sp>
      <p:sp>
        <p:nvSpPr>
          <p:cNvPr id="14" name="Text 12"/>
          <p:cNvSpPr/>
          <p:nvPr/>
        </p:nvSpPr>
        <p:spPr>
          <a:xfrm>
            <a:off x="859536" y="3968496"/>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指示の内容・責任者・期限・実施結果を記録します。「伝えた」ではなく「実施された」まで追えます。</a:t>
            </a:r>
            <a:endParaRPr lang="en-US" sz="950" dirty="0"/>
          </a:p>
        </p:txBody>
      </p:sp>
      <p:sp>
        <p:nvSpPr>
          <p:cNvPr id="15" name="Shape 13"/>
          <p:cNvSpPr/>
          <p:nvPr/>
        </p:nvSpPr>
        <p:spPr>
          <a:xfrm>
            <a:off x="4334256" y="3401568"/>
            <a:ext cx="3511296" cy="1737360"/>
          </a:xfrm>
          <a:prstGeom prst="roundRect">
            <a:avLst>
              <a:gd name="adj" fmla="val 2895"/>
            </a:avLst>
          </a:prstGeom>
          <a:solidFill>
            <a:srgbClr val="FFFFFF"/>
          </a:solidFill>
          <a:ln w="12700">
            <a:solidFill>
              <a:srgbClr val="D6E0D9"/>
            </a:solidFill>
            <a:prstDash val="solid"/>
          </a:ln>
        </p:spPr>
      </p:sp>
      <p:sp>
        <p:nvSpPr>
          <p:cNvPr id="16" name="Text 14"/>
          <p:cNvSpPr/>
          <p:nvPr/>
        </p:nvSpPr>
        <p:spPr>
          <a:xfrm>
            <a:off x="4553712" y="3584448"/>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記録の一括出力</a:t>
            </a:r>
            <a:endParaRPr lang="en-US" sz="1200" dirty="0"/>
          </a:p>
        </p:txBody>
      </p:sp>
      <p:sp>
        <p:nvSpPr>
          <p:cNvPr id="17" name="Text 15"/>
          <p:cNvSpPr/>
          <p:nvPr/>
        </p:nvSpPr>
        <p:spPr>
          <a:xfrm>
            <a:off x="4553712" y="3968496"/>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面談記録・意見・決定の経過を、案件ごとに一式で出力。監査・調査の際にそのまま提出できます。</a:t>
            </a:r>
            <a:endParaRPr lang="en-US" sz="950" dirty="0"/>
          </a:p>
        </p:txBody>
      </p:sp>
      <p:sp>
        <p:nvSpPr>
          <p:cNvPr id="18" name="Shape 16"/>
          <p:cNvSpPr/>
          <p:nvPr/>
        </p:nvSpPr>
        <p:spPr>
          <a:xfrm>
            <a:off x="8028432" y="3401568"/>
            <a:ext cx="3511296" cy="1737360"/>
          </a:xfrm>
          <a:prstGeom prst="roundRect">
            <a:avLst>
              <a:gd name="adj" fmla="val 2895"/>
            </a:avLst>
          </a:prstGeom>
          <a:solidFill>
            <a:srgbClr val="FFFFFF"/>
          </a:solidFill>
          <a:ln w="12700">
            <a:solidFill>
              <a:srgbClr val="D6E0D9"/>
            </a:solidFill>
            <a:prstDash val="solid"/>
          </a:ln>
        </p:spPr>
      </p:sp>
      <p:sp>
        <p:nvSpPr>
          <p:cNvPr id="19" name="Text 17"/>
          <p:cNvSpPr/>
          <p:nvPr/>
        </p:nvSpPr>
        <p:spPr>
          <a:xfrm>
            <a:off x="8247888" y="3584448"/>
            <a:ext cx="3072384" cy="310896"/>
          </a:xfrm>
          <a:prstGeom prst="rect">
            <a:avLst/>
          </a:prstGeom>
          <a:noFill/>
          <a:ln/>
        </p:spPr>
        <p:txBody>
          <a:bodyPr wrap="square" lIns="0" tIns="0" rIns="0" bIns="0" rtlCol="0" anchor="t"/>
          <a:lstStyle/>
          <a:p>
            <a:pPr algn="l" indent="0" marL="0">
              <a:lnSpc>
                <a:spcPct val="130000"/>
              </a:lnSpc>
              <a:buNone/>
            </a:pPr>
            <a:r>
              <a:rPr lang="en-US" sz="1200" b="1" dirty="0">
                <a:solidFill>
                  <a:srgbClr val="0F3D2E"/>
                </a:solidFill>
                <a:latin typeface="Hiragino Kaku Gothic ProN" pitchFamily="34" charset="0"/>
                <a:ea typeface="Hiragino Kaku Gothic ProN" pitchFamily="34" charset="-122"/>
                <a:cs typeface="Hiragino Kaku Gothic ProN" pitchFamily="34" charset="-120"/>
              </a:rPr>
              <a:t>2つのポータル</a:t>
            </a:r>
            <a:endParaRPr lang="en-US" sz="1200" dirty="0"/>
          </a:p>
        </p:txBody>
      </p:sp>
      <p:sp>
        <p:nvSpPr>
          <p:cNvPr id="20" name="Text 18"/>
          <p:cNvSpPr/>
          <p:nvPr/>
        </p:nvSpPr>
        <p:spPr>
          <a:xfrm>
            <a:off x="8247888" y="3968496"/>
            <a:ext cx="3072384" cy="100584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企業担当者用と産業医用に分かれ、役割に応じて必要な範囲だけを表示します（役割ベースの権限管理）。</a:t>
            </a:r>
            <a:endParaRPr lang="en-US" sz="950" dirty="0"/>
          </a:p>
        </p:txBody>
      </p:sp>
      <p:sp>
        <p:nvSpPr>
          <p:cNvPr id="21" name="Text 19"/>
          <p:cNvSpPr/>
          <p:nvPr/>
        </p:nvSpPr>
        <p:spPr>
          <a:xfrm>
            <a:off x="640080" y="5394960"/>
            <a:ext cx="10911535" cy="274320"/>
          </a:xfrm>
          <a:prstGeom prst="rect">
            <a:avLst/>
          </a:prstGeom>
          <a:noFill/>
          <a:ln/>
        </p:spPr>
        <p:txBody>
          <a:bodyPr wrap="square" lIns="0" tIns="0" rIns="0" bIns="0" rtlCol="0" anchor="t"/>
          <a:lstStyle/>
          <a:p>
            <a:pPr algn="l" indent="0" marL="0">
              <a:lnSpc>
                <a:spcPct val="130000"/>
              </a:lnSpc>
              <a:buNone/>
            </a:pPr>
            <a:r>
              <a:rPr lang="en-US" sz="950" dirty="0">
                <a:solidFill>
                  <a:srgbClr val="6B7570"/>
                </a:solidFill>
                <a:latin typeface="Hiragino Kaku Gothic ProN" pitchFamily="34" charset="0"/>
                <a:ea typeface="Hiragino Kaku Gothic ProN" pitchFamily="34" charset="-122"/>
                <a:cs typeface="Hiragino Kaku Gothic ProN" pitchFamily="34" charset="-120"/>
              </a:rPr>
              <a:t>※ 機能の詳細と画面は、オンラインでのご説明時にご覧いただけます。</a:t>
            </a:r>
            <a:endParaRPr lang="en-US" sz="950" dirty="0"/>
          </a:p>
        </p:txBody>
      </p:sp>
      <p:sp>
        <p:nvSpPr>
          <p:cNvPr id="22" name="Text 20"/>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23" name="Text 21"/>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起票から完了まで、ひとつの流れで</a:t>
            </a:r>
            <a:endParaRPr lang="en-US" sz="2100" dirty="0"/>
          </a:p>
        </p:txBody>
      </p:sp>
      <p:sp>
        <p:nvSpPr>
          <p:cNvPr id="3" name="Shape 1"/>
          <p:cNvSpPr/>
          <p:nvPr/>
        </p:nvSpPr>
        <p:spPr>
          <a:xfrm>
            <a:off x="640080" y="1645920"/>
            <a:ext cx="3511296" cy="2103120"/>
          </a:xfrm>
          <a:prstGeom prst="roundRect">
            <a:avLst>
              <a:gd name="adj" fmla="val 2391"/>
            </a:avLst>
          </a:prstGeom>
          <a:solidFill>
            <a:srgbClr val="FFFFFF"/>
          </a:solidFill>
          <a:ln w="12700">
            <a:solidFill>
              <a:srgbClr val="D6E0D9"/>
            </a:solidFill>
            <a:prstDash val="solid"/>
          </a:ln>
        </p:spPr>
      </p:sp>
      <p:sp>
        <p:nvSpPr>
          <p:cNvPr id="4" name="Text 2"/>
          <p:cNvSpPr/>
          <p:nvPr/>
        </p:nvSpPr>
        <p:spPr>
          <a:xfrm>
            <a:off x="877824" y="1847088"/>
            <a:ext cx="822960" cy="457200"/>
          </a:xfrm>
          <a:prstGeom prst="rect">
            <a:avLst/>
          </a:prstGeom>
          <a:noFill/>
          <a:ln/>
        </p:spPr>
        <p:txBody>
          <a:bodyPr wrap="square" lIns="0" tIns="0" rIns="0" bIns="0" rtlCol="0" anchor="t"/>
          <a:lstStyle/>
          <a:p>
            <a:pPr algn="l" indent="0" marL="0">
              <a:lnSpc>
                <a:spcPct val="130000"/>
              </a:lnSpc>
              <a:buNone/>
            </a:pPr>
            <a:r>
              <a:rPr lang="en-US" sz="2200" b="1" dirty="0">
                <a:solidFill>
                  <a:srgbClr val="D6E0D9"/>
                </a:solidFill>
                <a:latin typeface="Hiragino Kaku Gothic ProN" pitchFamily="34" charset="0"/>
                <a:ea typeface="Hiragino Kaku Gothic ProN" pitchFamily="34" charset="-122"/>
                <a:cs typeface="Hiragino Kaku Gothic ProN" pitchFamily="34" charset="-120"/>
              </a:rPr>
              <a:t>01</a:t>
            </a:r>
            <a:endParaRPr lang="en-US" sz="2200" dirty="0"/>
          </a:p>
        </p:txBody>
      </p:sp>
      <p:sp>
        <p:nvSpPr>
          <p:cNvPr id="5" name="Text 3"/>
          <p:cNvSpPr/>
          <p:nvPr/>
        </p:nvSpPr>
        <p:spPr>
          <a:xfrm>
            <a:off x="1508760" y="1920240"/>
            <a:ext cx="2414016" cy="365760"/>
          </a:xfrm>
          <a:prstGeom prst="rect">
            <a:avLst/>
          </a:prstGeom>
          <a:noFill/>
          <a:ln/>
        </p:spPr>
        <p:txBody>
          <a:bodyPr wrap="square" lIns="0" tIns="0" rIns="0" bIns="0" rtlCol="0" anchor="t"/>
          <a:lstStyle/>
          <a:p>
            <a:pPr algn="l" indent="0" marL="0">
              <a:lnSpc>
                <a:spcPct val="130000"/>
              </a:lnSpc>
              <a:buNone/>
            </a:pPr>
            <a:r>
              <a:rPr lang="en-US" sz="1400" b="1" dirty="0">
                <a:solidFill>
                  <a:srgbClr val="0F3D2E"/>
                </a:solidFill>
                <a:latin typeface="Hiragino Kaku Gothic ProN" pitchFamily="34" charset="0"/>
                <a:ea typeface="Hiragino Kaku Gothic ProN" pitchFamily="34" charset="-122"/>
                <a:cs typeface="Hiragino Kaku Gothic ProN" pitchFamily="34" charset="-120"/>
              </a:rPr>
              <a:t>起票</a:t>
            </a:r>
            <a:endParaRPr lang="en-US" sz="1400" dirty="0"/>
          </a:p>
        </p:txBody>
      </p:sp>
      <p:sp>
        <p:nvSpPr>
          <p:cNvPr id="6" name="Text 4"/>
          <p:cNvSpPr/>
          <p:nvPr/>
        </p:nvSpPr>
        <p:spPr>
          <a:xfrm>
            <a:off x="896112" y="2514600"/>
            <a:ext cx="2999232" cy="1051560"/>
          </a:xfrm>
          <a:prstGeom prst="rect">
            <a:avLst/>
          </a:prstGeom>
          <a:noFill/>
          <a:ln/>
        </p:spPr>
        <p:txBody>
          <a:bodyPr wrap="square" lIns="0" tIns="0" rIns="0" bIns="0" rtlCol="0" anchor="t"/>
          <a:lstStyle/>
          <a:p>
            <a:pPr algn="l" indent="0" marL="0">
              <a:lnSpc>
                <a:spcPct val="138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案件の種別・担当者・必要な情報・本人同意の範囲を、最初に登録します。</a:t>
            </a:r>
            <a:endParaRPr lang="en-US" sz="1050" dirty="0"/>
          </a:p>
        </p:txBody>
      </p:sp>
      <p:sp>
        <p:nvSpPr>
          <p:cNvPr id="7" name="Text 5"/>
          <p:cNvSpPr/>
          <p:nvPr/>
        </p:nvSpPr>
        <p:spPr>
          <a:xfrm>
            <a:off x="4133088" y="2468880"/>
            <a:ext cx="237744" cy="457200"/>
          </a:xfrm>
          <a:prstGeom prst="rect">
            <a:avLst/>
          </a:prstGeom>
          <a:noFill/>
          <a:ln/>
        </p:spPr>
        <p:txBody>
          <a:bodyPr wrap="square" lIns="0" tIns="0" rIns="0" bIns="0" rtlCol="0" anchor="ctr"/>
          <a:lstStyle/>
          <a:p>
            <a:pPr algn="ctr" indent="0" marL="0">
              <a:buNone/>
            </a:pPr>
            <a:r>
              <a:rPr lang="en-US" sz="2000" dirty="0">
                <a:solidFill>
                  <a:srgbClr val="6B7570"/>
                </a:solidFill>
                <a:latin typeface="Hiragino Kaku Gothic ProN" pitchFamily="34" charset="0"/>
                <a:ea typeface="Hiragino Kaku Gothic ProN" pitchFamily="34" charset="-122"/>
                <a:cs typeface="Hiragino Kaku Gothic ProN" pitchFamily="34" charset="-120"/>
              </a:rPr>
              <a:t>›</a:t>
            </a:r>
            <a:endParaRPr lang="en-US" sz="2000" dirty="0"/>
          </a:p>
        </p:txBody>
      </p:sp>
      <p:sp>
        <p:nvSpPr>
          <p:cNvPr id="8" name="Shape 6"/>
          <p:cNvSpPr/>
          <p:nvPr/>
        </p:nvSpPr>
        <p:spPr>
          <a:xfrm>
            <a:off x="4334256" y="1645920"/>
            <a:ext cx="3511296" cy="2103120"/>
          </a:xfrm>
          <a:prstGeom prst="roundRect">
            <a:avLst>
              <a:gd name="adj" fmla="val 2391"/>
            </a:avLst>
          </a:prstGeom>
          <a:solidFill>
            <a:srgbClr val="FFFFFF"/>
          </a:solidFill>
          <a:ln w="12700">
            <a:solidFill>
              <a:srgbClr val="D6E0D9"/>
            </a:solidFill>
            <a:prstDash val="solid"/>
          </a:ln>
        </p:spPr>
      </p:sp>
      <p:sp>
        <p:nvSpPr>
          <p:cNvPr id="9" name="Text 7"/>
          <p:cNvSpPr/>
          <p:nvPr/>
        </p:nvSpPr>
        <p:spPr>
          <a:xfrm>
            <a:off x="4572000" y="1847088"/>
            <a:ext cx="822960" cy="457200"/>
          </a:xfrm>
          <a:prstGeom prst="rect">
            <a:avLst/>
          </a:prstGeom>
          <a:noFill/>
          <a:ln/>
        </p:spPr>
        <p:txBody>
          <a:bodyPr wrap="square" lIns="0" tIns="0" rIns="0" bIns="0" rtlCol="0" anchor="t"/>
          <a:lstStyle/>
          <a:p>
            <a:pPr algn="l" indent="0" marL="0">
              <a:lnSpc>
                <a:spcPct val="130000"/>
              </a:lnSpc>
              <a:buNone/>
            </a:pPr>
            <a:r>
              <a:rPr lang="en-US" sz="2200" b="1" dirty="0">
                <a:solidFill>
                  <a:srgbClr val="D6E0D9"/>
                </a:solidFill>
                <a:latin typeface="Hiragino Kaku Gothic ProN" pitchFamily="34" charset="0"/>
                <a:ea typeface="Hiragino Kaku Gothic ProN" pitchFamily="34" charset="-122"/>
                <a:cs typeface="Hiragino Kaku Gothic ProN" pitchFamily="34" charset="-120"/>
              </a:rPr>
              <a:t>02</a:t>
            </a:r>
            <a:endParaRPr lang="en-US" sz="2200" dirty="0"/>
          </a:p>
        </p:txBody>
      </p:sp>
      <p:sp>
        <p:nvSpPr>
          <p:cNvPr id="10" name="Text 8"/>
          <p:cNvSpPr/>
          <p:nvPr/>
        </p:nvSpPr>
        <p:spPr>
          <a:xfrm>
            <a:off x="5202936" y="1920240"/>
            <a:ext cx="2414016" cy="365760"/>
          </a:xfrm>
          <a:prstGeom prst="rect">
            <a:avLst/>
          </a:prstGeom>
          <a:noFill/>
          <a:ln/>
        </p:spPr>
        <p:txBody>
          <a:bodyPr wrap="square" lIns="0" tIns="0" rIns="0" bIns="0" rtlCol="0" anchor="t"/>
          <a:lstStyle/>
          <a:p>
            <a:pPr algn="l" indent="0" marL="0">
              <a:lnSpc>
                <a:spcPct val="130000"/>
              </a:lnSpc>
              <a:buNone/>
            </a:pPr>
            <a:r>
              <a:rPr lang="en-US" sz="1400" b="1" dirty="0">
                <a:solidFill>
                  <a:srgbClr val="0F3D2E"/>
                </a:solidFill>
                <a:latin typeface="Hiragino Kaku Gothic ProN" pitchFamily="34" charset="0"/>
                <a:ea typeface="Hiragino Kaku Gothic ProN" pitchFamily="34" charset="-122"/>
                <a:cs typeface="Hiragino Kaku Gothic ProN" pitchFamily="34" charset="-120"/>
              </a:rPr>
              <a:t>実行</a:t>
            </a:r>
            <a:endParaRPr lang="en-US" sz="1400" dirty="0"/>
          </a:p>
        </p:txBody>
      </p:sp>
      <p:sp>
        <p:nvSpPr>
          <p:cNvPr id="11" name="Text 9"/>
          <p:cNvSpPr/>
          <p:nvPr/>
        </p:nvSpPr>
        <p:spPr>
          <a:xfrm>
            <a:off x="4590288" y="2514600"/>
            <a:ext cx="2999232" cy="1051560"/>
          </a:xfrm>
          <a:prstGeom prst="rect">
            <a:avLst/>
          </a:prstGeom>
          <a:noFill/>
          <a:ln/>
        </p:spPr>
        <p:txBody>
          <a:bodyPr wrap="square" lIns="0" tIns="0" rIns="0" bIns="0" rtlCol="0" anchor="t"/>
          <a:lstStyle/>
          <a:p>
            <a:pPr algn="l" indent="0" marL="0">
              <a:lnSpc>
                <a:spcPct val="138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予約、面談、文書、期日を案件の中で進行管理します。関係者への確認・催促はシステムが行います。</a:t>
            </a:r>
            <a:endParaRPr lang="en-US" sz="1050" dirty="0"/>
          </a:p>
        </p:txBody>
      </p:sp>
      <p:sp>
        <p:nvSpPr>
          <p:cNvPr id="12" name="Text 10"/>
          <p:cNvSpPr/>
          <p:nvPr/>
        </p:nvSpPr>
        <p:spPr>
          <a:xfrm>
            <a:off x="7827264" y="2468880"/>
            <a:ext cx="237744" cy="457200"/>
          </a:xfrm>
          <a:prstGeom prst="rect">
            <a:avLst/>
          </a:prstGeom>
          <a:noFill/>
          <a:ln/>
        </p:spPr>
        <p:txBody>
          <a:bodyPr wrap="square" lIns="0" tIns="0" rIns="0" bIns="0" rtlCol="0" anchor="ctr"/>
          <a:lstStyle/>
          <a:p>
            <a:pPr algn="ctr" indent="0" marL="0">
              <a:buNone/>
            </a:pPr>
            <a:r>
              <a:rPr lang="en-US" sz="2000" dirty="0">
                <a:solidFill>
                  <a:srgbClr val="6B7570"/>
                </a:solidFill>
                <a:latin typeface="Hiragino Kaku Gothic ProN" pitchFamily="34" charset="0"/>
                <a:ea typeface="Hiragino Kaku Gothic ProN" pitchFamily="34" charset="-122"/>
                <a:cs typeface="Hiragino Kaku Gothic ProN" pitchFamily="34" charset="-120"/>
              </a:rPr>
              <a:t>›</a:t>
            </a:r>
            <a:endParaRPr lang="en-US" sz="2000" dirty="0"/>
          </a:p>
        </p:txBody>
      </p:sp>
      <p:sp>
        <p:nvSpPr>
          <p:cNvPr id="13" name="Shape 11"/>
          <p:cNvSpPr/>
          <p:nvPr/>
        </p:nvSpPr>
        <p:spPr>
          <a:xfrm>
            <a:off x="8028432" y="1645920"/>
            <a:ext cx="3511296" cy="2103120"/>
          </a:xfrm>
          <a:prstGeom prst="roundRect">
            <a:avLst>
              <a:gd name="adj" fmla="val 2391"/>
            </a:avLst>
          </a:prstGeom>
          <a:solidFill>
            <a:srgbClr val="FFFFFF"/>
          </a:solidFill>
          <a:ln w="12700">
            <a:solidFill>
              <a:srgbClr val="D6E0D9"/>
            </a:solidFill>
            <a:prstDash val="solid"/>
          </a:ln>
        </p:spPr>
      </p:sp>
      <p:sp>
        <p:nvSpPr>
          <p:cNvPr id="14" name="Text 12"/>
          <p:cNvSpPr/>
          <p:nvPr/>
        </p:nvSpPr>
        <p:spPr>
          <a:xfrm>
            <a:off x="8266176" y="1847088"/>
            <a:ext cx="822960" cy="457200"/>
          </a:xfrm>
          <a:prstGeom prst="rect">
            <a:avLst/>
          </a:prstGeom>
          <a:noFill/>
          <a:ln/>
        </p:spPr>
        <p:txBody>
          <a:bodyPr wrap="square" lIns="0" tIns="0" rIns="0" bIns="0" rtlCol="0" anchor="t"/>
          <a:lstStyle/>
          <a:p>
            <a:pPr algn="l" indent="0" marL="0">
              <a:lnSpc>
                <a:spcPct val="130000"/>
              </a:lnSpc>
              <a:buNone/>
            </a:pPr>
            <a:r>
              <a:rPr lang="en-US" sz="2200" b="1" dirty="0">
                <a:solidFill>
                  <a:srgbClr val="D6E0D9"/>
                </a:solidFill>
                <a:latin typeface="Hiragino Kaku Gothic ProN" pitchFamily="34" charset="0"/>
                <a:ea typeface="Hiragino Kaku Gothic ProN" pitchFamily="34" charset="-122"/>
                <a:cs typeface="Hiragino Kaku Gothic ProN" pitchFamily="34" charset="-120"/>
              </a:rPr>
              <a:t>03</a:t>
            </a:r>
            <a:endParaRPr lang="en-US" sz="2200" dirty="0"/>
          </a:p>
        </p:txBody>
      </p:sp>
      <p:sp>
        <p:nvSpPr>
          <p:cNvPr id="15" name="Text 13"/>
          <p:cNvSpPr/>
          <p:nvPr/>
        </p:nvSpPr>
        <p:spPr>
          <a:xfrm>
            <a:off x="8897112" y="1920240"/>
            <a:ext cx="2414016" cy="365760"/>
          </a:xfrm>
          <a:prstGeom prst="rect">
            <a:avLst/>
          </a:prstGeom>
          <a:noFill/>
          <a:ln/>
        </p:spPr>
        <p:txBody>
          <a:bodyPr wrap="square" lIns="0" tIns="0" rIns="0" bIns="0" rtlCol="0" anchor="t"/>
          <a:lstStyle/>
          <a:p>
            <a:pPr algn="l" indent="0" marL="0">
              <a:lnSpc>
                <a:spcPct val="130000"/>
              </a:lnSpc>
              <a:buNone/>
            </a:pPr>
            <a:r>
              <a:rPr lang="en-US" sz="1400" b="1" dirty="0">
                <a:solidFill>
                  <a:srgbClr val="0F3D2E"/>
                </a:solidFill>
                <a:latin typeface="Hiragino Kaku Gothic ProN" pitchFamily="34" charset="0"/>
                <a:ea typeface="Hiragino Kaku Gothic ProN" pitchFamily="34" charset="-122"/>
                <a:cs typeface="Hiragino Kaku Gothic ProN" pitchFamily="34" charset="-120"/>
              </a:rPr>
              <a:t>完了</a:t>
            </a:r>
            <a:endParaRPr lang="en-US" sz="1400" dirty="0"/>
          </a:p>
        </p:txBody>
      </p:sp>
      <p:sp>
        <p:nvSpPr>
          <p:cNvPr id="16" name="Text 14"/>
          <p:cNvSpPr/>
          <p:nvPr/>
        </p:nvSpPr>
        <p:spPr>
          <a:xfrm>
            <a:off x="8284464" y="2514600"/>
            <a:ext cx="2999232" cy="1051560"/>
          </a:xfrm>
          <a:prstGeom prst="rect">
            <a:avLst/>
          </a:prstGeom>
          <a:noFill/>
          <a:ln/>
        </p:spPr>
        <p:txBody>
          <a:bodyPr wrap="square" lIns="0" tIns="0" rIns="0" bIns="0" rtlCol="0" anchor="t"/>
          <a:lstStyle/>
          <a:p>
            <a:pPr algn="l" indent="0" marL="0">
              <a:lnSpc>
                <a:spcPct val="138000"/>
              </a:lnSpc>
              <a:buNone/>
            </a:pPr>
            <a:r>
              <a:rPr lang="en-US" sz="1050" dirty="0">
                <a:solidFill>
                  <a:srgbClr val="1A2421"/>
                </a:solidFill>
                <a:latin typeface="Hiragino Kaku Gothic ProN" pitchFamily="34" charset="0"/>
                <a:ea typeface="Hiragino Kaku Gothic ProN" pitchFamily="34" charset="-122"/>
                <a:cs typeface="Hiragino Kaku Gothic ProN" pitchFamily="34" charset="-120"/>
              </a:rPr>
              <a:t>措置と見直し時期を確定し、決定を記録して案件を閉じます。記録一式はいつでも出力できます。</a:t>
            </a:r>
            <a:endParaRPr lang="en-US" sz="1050" dirty="0"/>
          </a:p>
        </p:txBody>
      </p:sp>
      <p:sp>
        <p:nvSpPr>
          <p:cNvPr id="17" name="Shape 15"/>
          <p:cNvSpPr/>
          <p:nvPr/>
        </p:nvSpPr>
        <p:spPr>
          <a:xfrm>
            <a:off x="640080" y="4160520"/>
            <a:ext cx="10911535" cy="1325880"/>
          </a:xfrm>
          <a:prstGeom prst="roundRect">
            <a:avLst>
              <a:gd name="adj" fmla="val 3793"/>
            </a:avLst>
          </a:prstGeom>
          <a:solidFill>
            <a:srgbClr val="F1F5F2"/>
          </a:solidFill>
          <a:ln w="12700">
            <a:solidFill>
              <a:srgbClr val="D6E0D9"/>
            </a:solidFill>
            <a:prstDash val="solid"/>
          </a:ln>
        </p:spPr>
      </p:sp>
      <p:sp>
        <p:nvSpPr>
          <p:cNvPr id="18" name="Text 16"/>
          <p:cNvSpPr/>
          <p:nvPr/>
        </p:nvSpPr>
        <p:spPr>
          <a:xfrm>
            <a:off x="960120" y="4379976"/>
            <a:ext cx="10271455" cy="320040"/>
          </a:xfrm>
          <a:prstGeom prst="rect">
            <a:avLst/>
          </a:prstGeom>
          <a:noFill/>
          <a:ln/>
        </p:spPr>
        <p:txBody>
          <a:bodyPr wrap="square" lIns="0" tIns="0" rIns="0" bIns="0" rtlCol="0" anchor="t"/>
          <a:lstStyle/>
          <a:p>
            <a:pPr algn="l" indent="0" marL="0">
              <a:lnSpc>
                <a:spcPct val="130000"/>
              </a:lnSpc>
              <a:buNone/>
            </a:pPr>
            <a:r>
              <a:rPr lang="en-US" sz="1200" b="1" dirty="0">
                <a:solidFill>
                  <a:srgbClr val="2E6B53"/>
                </a:solidFill>
                <a:latin typeface="Hiragino Kaku Gothic ProN" pitchFamily="34" charset="0"/>
                <a:ea typeface="Hiragino Kaku Gothic ProN" pitchFamily="34" charset="-122"/>
                <a:cs typeface="Hiragino Kaku Gothic ProN" pitchFamily="34" charset="-120"/>
              </a:rPr>
              <a:t>「完了」の定義がある、ということ</a:t>
            </a:r>
            <a:endParaRPr lang="en-US" sz="1200" dirty="0"/>
          </a:p>
        </p:txBody>
      </p:sp>
      <p:sp>
        <p:nvSpPr>
          <p:cNvPr id="19" name="Text 17"/>
          <p:cNvSpPr/>
          <p:nvPr/>
        </p:nvSpPr>
        <p:spPr>
          <a:xfrm>
            <a:off x="960120" y="4727448"/>
            <a:ext cx="10271455" cy="640080"/>
          </a:xfrm>
          <a:prstGeom prst="rect">
            <a:avLst/>
          </a:prstGeom>
          <a:noFill/>
          <a:ln/>
        </p:spPr>
        <p:txBody>
          <a:bodyPr wrap="square" lIns="0" tIns="0" rIns="0" bIns="0" rtlCol="0" anchor="t"/>
          <a:lstStyle/>
          <a:p>
            <a:pPr algn="l" indent="0" marL="0">
              <a:lnSpc>
                <a:spcPct val="140000"/>
              </a:lnSpc>
              <a:buNone/>
            </a:pPr>
            <a:r>
              <a:rPr lang="en-US" sz="1100" dirty="0">
                <a:solidFill>
                  <a:srgbClr val="1A2421"/>
                </a:solidFill>
                <a:latin typeface="Hiragino Kaku Gothic ProN" pitchFamily="34" charset="0"/>
                <a:ea typeface="Hiragino Kaku Gothic ProN" pitchFamily="34" charset="-122"/>
                <a:cs typeface="Hiragino Kaku Gothic ProN" pitchFamily="34" charset="-120"/>
              </a:rPr>
              <a:t>案件は「対応した」ではなく、「完了の条件を満たした」ときに閉じます。決定が記録されていない案件、見直し時期が未設定の案件は完了になりません。この完了の定義が、抜け漏れを防ぎます。</a:t>
            </a:r>
            <a:endParaRPr lang="en-US" sz="1100" dirty="0"/>
          </a:p>
        </p:txBody>
      </p:sp>
      <p:sp>
        <p:nvSpPr>
          <p:cNvPr id="20" name="Text 18"/>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21" name="Text 19"/>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料金プラン</a:t>
            </a:r>
            <a:endParaRPr lang="en-US" sz="2100" dirty="0"/>
          </a:p>
        </p:txBody>
      </p:sp>
      <p:sp>
        <p:nvSpPr>
          <p:cNvPr id="3" name="Text 1"/>
          <p:cNvSpPr/>
          <p:nvPr/>
        </p:nvSpPr>
        <p:spPr>
          <a:xfrm>
            <a:off x="640080" y="1024128"/>
            <a:ext cx="10911535" cy="502920"/>
          </a:xfrm>
          <a:prstGeom prst="rect">
            <a:avLst/>
          </a:prstGeom>
          <a:noFill/>
          <a:ln/>
        </p:spPr>
        <p:txBody>
          <a:bodyPr wrap="square" lIns="0" tIns="0" rIns="0" bIns="0" rtlCol="0" anchor="t"/>
          <a:lstStyle/>
          <a:p>
            <a:pPr algn="l" indent="0" marL="0">
              <a:lnSpc>
                <a:spcPct val="125000"/>
              </a:lnSpc>
              <a:buNone/>
            </a:pPr>
            <a:r>
              <a:rPr lang="en-US" sz="1100" dirty="0">
                <a:solidFill>
                  <a:srgbClr val="6B7570"/>
                </a:solidFill>
                <a:latin typeface="Hiragino Kaku Gothic ProN" pitchFamily="34" charset="0"/>
                <a:ea typeface="Hiragino Kaku Gothic ProN" pitchFamily="34" charset="-122"/>
                <a:cs typeface="Hiragino Kaku Gothic ProN" pitchFamily="34" charset="-120"/>
              </a:rPr>
              <a:t>月間の案件数・予約数に合わせて選べる3つのプランです。初期費用は無料です。</a:t>
            </a:r>
            <a:endParaRPr lang="en-US" sz="1100" dirty="0"/>
          </a:p>
        </p:txBody>
      </p:sp>
      <p:sp>
        <p:nvSpPr>
          <p:cNvPr id="4" name="Shape 2"/>
          <p:cNvSpPr/>
          <p:nvPr/>
        </p:nvSpPr>
        <p:spPr>
          <a:xfrm>
            <a:off x="640080" y="1783080"/>
            <a:ext cx="3511296" cy="2377440"/>
          </a:xfrm>
          <a:prstGeom prst="roundRect">
            <a:avLst>
              <a:gd name="adj" fmla="val 2115"/>
            </a:avLst>
          </a:prstGeom>
          <a:solidFill>
            <a:srgbClr val="FFFFFF"/>
          </a:solidFill>
          <a:ln w="12700">
            <a:solidFill>
              <a:srgbClr val="D6E0D9"/>
            </a:solidFill>
            <a:prstDash val="solid"/>
          </a:ln>
          <a:effectLst>
            <a:outerShdw sx="100000" sy="100000" kx="0" ky="0" algn="bl" rotWithShape="0" blurRad="88900" dist="25400" dir="5400000">
              <a:srgbClr val="1A2421">
                <a:alpha val="10000"/>
              </a:srgbClr>
            </a:outerShdw>
          </a:effectLst>
        </p:spPr>
      </p:sp>
      <p:sp>
        <p:nvSpPr>
          <p:cNvPr id="5" name="Text 3"/>
          <p:cNvSpPr/>
          <p:nvPr/>
        </p:nvSpPr>
        <p:spPr>
          <a:xfrm>
            <a:off x="896112" y="2002536"/>
            <a:ext cx="2999232" cy="310896"/>
          </a:xfrm>
          <a:prstGeom prst="rect">
            <a:avLst/>
          </a:prstGeom>
          <a:noFill/>
          <a:ln/>
        </p:spPr>
        <p:txBody>
          <a:bodyPr wrap="square" lIns="0" tIns="0" rIns="0" bIns="0" rtlCol="0" anchor="t"/>
          <a:lstStyle/>
          <a:p>
            <a:pPr algn="l" indent="0" marL="0">
              <a:lnSpc>
                <a:spcPct val="130000"/>
              </a:lnSpc>
              <a:buNone/>
            </a:pPr>
            <a:r>
              <a:rPr lang="en-US" sz="1400" b="1" spc="100" kern="0" dirty="0">
                <a:solidFill>
                  <a:srgbClr val="0F3D2E"/>
                </a:solidFill>
                <a:latin typeface="Hiragino Kaku Gothic ProN" pitchFamily="34" charset="0"/>
                <a:ea typeface="Hiragino Kaku Gothic ProN" pitchFamily="34" charset="-122"/>
                <a:cs typeface="Hiragino Kaku Gothic ProN" pitchFamily="34" charset="-120"/>
              </a:rPr>
              <a:t>STARTER</a:t>
            </a:r>
            <a:endParaRPr lang="en-US" sz="1400" dirty="0"/>
          </a:p>
        </p:txBody>
      </p:sp>
      <p:sp>
        <p:nvSpPr>
          <p:cNvPr id="6" name="Text 4"/>
          <p:cNvSpPr/>
          <p:nvPr/>
        </p:nvSpPr>
        <p:spPr>
          <a:xfrm>
            <a:off x="896112" y="2331720"/>
            <a:ext cx="2999232" cy="256032"/>
          </a:xfrm>
          <a:prstGeom prst="rect">
            <a:avLst/>
          </a:prstGeom>
          <a:noFill/>
          <a:ln/>
        </p:spPr>
        <p:txBody>
          <a:bodyPr wrap="square" lIns="0" tIns="0" rIns="0" bIns="0" rtlCol="0" anchor="t"/>
          <a:lstStyle/>
          <a:p>
            <a:pPr algn="l" indent="0" marL="0">
              <a:lnSpc>
                <a:spcPct val="130000"/>
              </a:lnSpc>
              <a:buNone/>
            </a:pPr>
            <a:r>
              <a:rPr lang="en-US" sz="950" b="1" dirty="0">
                <a:solidFill>
                  <a:srgbClr val="B45309"/>
                </a:solidFill>
                <a:latin typeface="Hiragino Kaku Gothic ProN" pitchFamily="34" charset="0"/>
                <a:ea typeface="Hiragino Kaku Gothic ProN" pitchFamily="34" charset="-122"/>
                <a:cs typeface="Hiragino Kaku Gothic ProN" pitchFamily="34" charset="-120"/>
              </a:rPr>
              <a:t>小規模・低頻度の利用に</a:t>
            </a:r>
            <a:endParaRPr lang="en-US" sz="950" dirty="0"/>
          </a:p>
        </p:txBody>
      </p:sp>
      <p:sp>
        <p:nvSpPr>
          <p:cNvPr id="7" name="Text 5"/>
          <p:cNvSpPr/>
          <p:nvPr/>
        </p:nvSpPr>
        <p:spPr>
          <a:xfrm>
            <a:off x="896112" y="2624328"/>
            <a:ext cx="2999232" cy="457200"/>
          </a:xfrm>
          <a:prstGeom prst="rect">
            <a:avLst/>
          </a:prstGeom>
          <a:noFill/>
          <a:ln/>
        </p:spPr>
        <p:txBody>
          <a:bodyPr wrap="square" lIns="0" tIns="0" rIns="0" bIns="0" rtlCol="0" anchor="ctr"/>
          <a:lstStyle/>
          <a:p>
            <a:pPr algn="l" indent="0" marL="0">
              <a:buNone/>
            </a:pPr>
            <a:r>
              <a:rPr lang="en-US" sz="2300" b="1" dirty="0">
                <a:solidFill>
                  <a:srgbClr val="2E6B53"/>
                </a:solidFill>
                <a:latin typeface="Hiragino Kaku Gothic ProN" pitchFamily="34" charset="0"/>
                <a:ea typeface="Hiragino Kaku Gothic ProN" pitchFamily="34" charset="-122"/>
                <a:cs typeface="Hiragino Kaku Gothic ProN" pitchFamily="34" charset="-120"/>
              </a:rPr>
              <a:t>40,000円</a:t>
            </a:r>
            <a:pPr algn="l" indent="0" marL="0">
              <a:buNone/>
            </a:pPr>
            <a:r>
              <a:rPr lang="en-US" sz="1050" dirty="0">
                <a:solidFill>
                  <a:srgbClr val="6B7570"/>
                </a:solidFill>
                <a:latin typeface="Hiragino Kaku Gothic ProN" pitchFamily="34" charset="0"/>
                <a:ea typeface="Hiragino Kaku Gothic ProN" pitchFamily="34" charset="-122"/>
                <a:cs typeface="Hiragino Kaku Gothic ProN" pitchFamily="34" charset="-120"/>
              </a:rPr>
              <a:t> ／月（税別）</a:t>
            </a:r>
            <a:endParaRPr lang="en-US" sz="2300" dirty="0"/>
          </a:p>
        </p:txBody>
      </p:sp>
      <p:sp>
        <p:nvSpPr>
          <p:cNvPr id="8" name="Shape 6"/>
          <p:cNvSpPr/>
          <p:nvPr/>
        </p:nvSpPr>
        <p:spPr>
          <a:xfrm>
            <a:off x="896112" y="3227832"/>
            <a:ext cx="2999232" cy="0"/>
          </a:xfrm>
          <a:prstGeom prst="line">
            <a:avLst/>
          </a:prstGeom>
          <a:noFill/>
          <a:ln w="9525">
            <a:solidFill>
              <a:srgbClr val="D6E0D9"/>
            </a:solidFill>
            <a:prstDash val="solid"/>
          </a:ln>
        </p:spPr>
      </p:sp>
      <p:sp>
        <p:nvSpPr>
          <p:cNvPr id="9" name="Text 7"/>
          <p:cNvSpPr/>
          <p:nvPr/>
        </p:nvSpPr>
        <p:spPr>
          <a:xfrm>
            <a:off x="896112" y="3355848"/>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Case枠  月4件（超過 4,000円／件）</a:t>
            </a:r>
            <a:endParaRPr lang="en-US" sz="950" dirty="0"/>
          </a:p>
        </p:txBody>
      </p:sp>
      <p:sp>
        <p:nvSpPr>
          <p:cNvPr id="10" name="Text 8"/>
          <p:cNvSpPr/>
          <p:nvPr/>
        </p:nvSpPr>
        <p:spPr>
          <a:xfrm>
            <a:off x="896112" y="3685032"/>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予約枠  月4件（超過 5,000円／件）</a:t>
            </a:r>
            <a:endParaRPr lang="en-US" sz="950" dirty="0"/>
          </a:p>
        </p:txBody>
      </p:sp>
      <p:sp>
        <p:nvSpPr>
          <p:cNvPr id="11" name="Shape 9"/>
          <p:cNvSpPr/>
          <p:nvPr/>
        </p:nvSpPr>
        <p:spPr>
          <a:xfrm>
            <a:off x="4334256" y="1783080"/>
            <a:ext cx="3511296" cy="2377440"/>
          </a:xfrm>
          <a:prstGeom prst="roundRect">
            <a:avLst>
              <a:gd name="adj" fmla="val 2115"/>
            </a:avLst>
          </a:prstGeom>
          <a:solidFill>
            <a:srgbClr val="FFFFFF"/>
          </a:solidFill>
          <a:ln w="12700">
            <a:solidFill>
              <a:srgbClr val="D6E0D9"/>
            </a:solidFill>
            <a:prstDash val="solid"/>
          </a:ln>
          <a:effectLst>
            <a:outerShdw sx="100000" sy="100000" kx="0" ky="0" algn="bl" rotWithShape="0" blurRad="88900" dist="25400" dir="5400000">
              <a:srgbClr val="1A2421">
                <a:alpha val="10000"/>
              </a:srgbClr>
            </a:outerShdw>
          </a:effectLst>
        </p:spPr>
      </p:sp>
      <p:sp>
        <p:nvSpPr>
          <p:cNvPr id="12" name="Text 10"/>
          <p:cNvSpPr/>
          <p:nvPr/>
        </p:nvSpPr>
        <p:spPr>
          <a:xfrm>
            <a:off x="4590288" y="2002536"/>
            <a:ext cx="2999232" cy="310896"/>
          </a:xfrm>
          <a:prstGeom prst="rect">
            <a:avLst/>
          </a:prstGeom>
          <a:noFill/>
          <a:ln/>
        </p:spPr>
        <p:txBody>
          <a:bodyPr wrap="square" lIns="0" tIns="0" rIns="0" bIns="0" rtlCol="0" anchor="t"/>
          <a:lstStyle/>
          <a:p>
            <a:pPr algn="l" indent="0" marL="0">
              <a:lnSpc>
                <a:spcPct val="130000"/>
              </a:lnSpc>
              <a:buNone/>
            </a:pPr>
            <a:r>
              <a:rPr lang="en-US" sz="1400" b="1" spc="100" kern="0" dirty="0">
                <a:solidFill>
                  <a:srgbClr val="0F3D2E"/>
                </a:solidFill>
                <a:latin typeface="Hiragino Kaku Gothic ProN" pitchFamily="34" charset="0"/>
                <a:ea typeface="Hiragino Kaku Gothic ProN" pitchFamily="34" charset="-122"/>
                <a:cs typeface="Hiragino Kaku Gothic ProN" pitchFamily="34" charset="-120"/>
              </a:rPr>
              <a:t>STANDARD</a:t>
            </a:r>
            <a:endParaRPr lang="en-US" sz="1400" dirty="0"/>
          </a:p>
        </p:txBody>
      </p:sp>
      <p:sp>
        <p:nvSpPr>
          <p:cNvPr id="13" name="Text 11"/>
          <p:cNvSpPr/>
          <p:nvPr/>
        </p:nvSpPr>
        <p:spPr>
          <a:xfrm>
            <a:off x="4590288" y="2331720"/>
            <a:ext cx="2999232" cy="256032"/>
          </a:xfrm>
          <a:prstGeom prst="rect">
            <a:avLst/>
          </a:prstGeom>
          <a:noFill/>
          <a:ln/>
        </p:spPr>
        <p:txBody>
          <a:bodyPr wrap="square" lIns="0" tIns="0" rIns="0" bIns="0" rtlCol="0" anchor="t"/>
          <a:lstStyle/>
          <a:p>
            <a:pPr algn="l" indent="0" marL="0">
              <a:lnSpc>
                <a:spcPct val="130000"/>
              </a:lnSpc>
              <a:buNone/>
            </a:pPr>
            <a:r>
              <a:rPr lang="en-US" sz="950" b="1" dirty="0">
                <a:solidFill>
                  <a:srgbClr val="B45309"/>
                </a:solidFill>
                <a:latin typeface="Hiragino Kaku Gothic ProN" pitchFamily="34" charset="0"/>
                <a:ea typeface="Hiragino Kaku Gothic ProN" pitchFamily="34" charset="-122"/>
                <a:cs typeface="Hiragino Kaku Gothic ProN" pitchFamily="34" charset="-120"/>
              </a:rPr>
              <a:t>標準的なプラン</a:t>
            </a:r>
            <a:endParaRPr lang="en-US" sz="950" dirty="0"/>
          </a:p>
        </p:txBody>
      </p:sp>
      <p:sp>
        <p:nvSpPr>
          <p:cNvPr id="14" name="Text 12"/>
          <p:cNvSpPr/>
          <p:nvPr/>
        </p:nvSpPr>
        <p:spPr>
          <a:xfrm>
            <a:off x="4590288" y="2624328"/>
            <a:ext cx="2999232" cy="457200"/>
          </a:xfrm>
          <a:prstGeom prst="rect">
            <a:avLst/>
          </a:prstGeom>
          <a:noFill/>
          <a:ln/>
        </p:spPr>
        <p:txBody>
          <a:bodyPr wrap="square" lIns="0" tIns="0" rIns="0" bIns="0" rtlCol="0" anchor="ctr"/>
          <a:lstStyle/>
          <a:p>
            <a:pPr algn="l" indent="0" marL="0">
              <a:buNone/>
            </a:pPr>
            <a:r>
              <a:rPr lang="en-US" sz="2300" b="1" dirty="0">
                <a:solidFill>
                  <a:srgbClr val="2E6B53"/>
                </a:solidFill>
                <a:latin typeface="Hiragino Kaku Gothic ProN" pitchFamily="34" charset="0"/>
                <a:ea typeface="Hiragino Kaku Gothic ProN" pitchFamily="34" charset="-122"/>
                <a:cs typeface="Hiragino Kaku Gothic ProN" pitchFamily="34" charset="-120"/>
              </a:rPr>
              <a:t>60,000円</a:t>
            </a:r>
            <a:pPr algn="l" indent="0" marL="0">
              <a:buNone/>
            </a:pPr>
            <a:r>
              <a:rPr lang="en-US" sz="1050" dirty="0">
                <a:solidFill>
                  <a:srgbClr val="6B7570"/>
                </a:solidFill>
                <a:latin typeface="Hiragino Kaku Gothic ProN" pitchFamily="34" charset="0"/>
                <a:ea typeface="Hiragino Kaku Gothic ProN" pitchFamily="34" charset="-122"/>
                <a:cs typeface="Hiragino Kaku Gothic ProN" pitchFamily="34" charset="-120"/>
              </a:rPr>
              <a:t> ／月（税別）</a:t>
            </a:r>
            <a:endParaRPr lang="en-US" sz="2300" dirty="0"/>
          </a:p>
        </p:txBody>
      </p:sp>
      <p:sp>
        <p:nvSpPr>
          <p:cNvPr id="15" name="Shape 13"/>
          <p:cNvSpPr/>
          <p:nvPr/>
        </p:nvSpPr>
        <p:spPr>
          <a:xfrm>
            <a:off x="4590288" y="3227832"/>
            <a:ext cx="2999232" cy="0"/>
          </a:xfrm>
          <a:prstGeom prst="line">
            <a:avLst/>
          </a:prstGeom>
          <a:noFill/>
          <a:ln w="9525">
            <a:solidFill>
              <a:srgbClr val="D6E0D9"/>
            </a:solidFill>
            <a:prstDash val="solid"/>
          </a:ln>
        </p:spPr>
      </p:sp>
      <p:sp>
        <p:nvSpPr>
          <p:cNvPr id="16" name="Text 14"/>
          <p:cNvSpPr/>
          <p:nvPr/>
        </p:nvSpPr>
        <p:spPr>
          <a:xfrm>
            <a:off x="4590288" y="3355848"/>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Case枠  月11件（超過 3,000円／件）</a:t>
            </a:r>
            <a:endParaRPr lang="en-US" sz="950" dirty="0"/>
          </a:p>
        </p:txBody>
      </p:sp>
      <p:sp>
        <p:nvSpPr>
          <p:cNvPr id="17" name="Text 15"/>
          <p:cNvSpPr/>
          <p:nvPr/>
        </p:nvSpPr>
        <p:spPr>
          <a:xfrm>
            <a:off x="4590288" y="3685032"/>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予約枠  月9件（超過 4,000円／件）</a:t>
            </a:r>
            <a:endParaRPr lang="en-US" sz="950" dirty="0"/>
          </a:p>
        </p:txBody>
      </p:sp>
      <p:sp>
        <p:nvSpPr>
          <p:cNvPr id="18" name="Shape 16"/>
          <p:cNvSpPr/>
          <p:nvPr/>
        </p:nvSpPr>
        <p:spPr>
          <a:xfrm>
            <a:off x="8028432" y="1783080"/>
            <a:ext cx="3511296" cy="2377440"/>
          </a:xfrm>
          <a:prstGeom prst="roundRect">
            <a:avLst>
              <a:gd name="adj" fmla="val 2115"/>
            </a:avLst>
          </a:prstGeom>
          <a:solidFill>
            <a:srgbClr val="FFFFFF"/>
          </a:solidFill>
          <a:ln w="12700">
            <a:solidFill>
              <a:srgbClr val="D6E0D9"/>
            </a:solidFill>
            <a:prstDash val="solid"/>
          </a:ln>
          <a:effectLst>
            <a:outerShdw sx="100000" sy="100000" kx="0" ky="0" algn="bl" rotWithShape="0" blurRad="88900" dist="25400" dir="5400000">
              <a:srgbClr val="1A2421">
                <a:alpha val="10000"/>
              </a:srgbClr>
            </a:outerShdw>
          </a:effectLst>
        </p:spPr>
      </p:sp>
      <p:sp>
        <p:nvSpPr>
          <p:cNvPr id="19" name="Text 17"/>
          <p:cNvSpPr/>
          <p:nvPr/>
        </p:nvSpPr>
        <p:spPr>
          <a:xfrm>
            <a:off x="8284464" y="2002536"/>
            <a:ext cx="2999232" cy="310896"/>
          </a:xfrm>
          <a:prstGeom prst="rect">
            <a:avLst/>
          </a:prstGeom>
          <a:noFill/>
          <a:ln/>
        </p:spPr>
        <p:txBody>
          <a:bodyPr wrap="square" lIns="0" tIns="0" rIns="0" bIns="0" rtlCol="0" anchor="t"/>
          <a:lstStyle/>
          <a:p>
            <a:pPr algn="l" indent="0" marL="0">
              <a:lnSpc>
                <a:spcPct val="130000"/>
              </a:lnSpc>
              <a:buNone/>
            </a:pPr>
            <a:r>
              <a:rPr lang="en-US" sz="1400" b="1" spc="100" kern="0" dirty="0">
                <a:solidFill>
                  <a:srgbClr val="0F3D2E"/>
                </a:solidFill>
                <a:latin typeface="Hiragino Kaku Gothic ProN" pitchFamily="34" charset="0"/>
                <a:ea typeface="Hiragino Kaku Gothic ProN" pitchFamily="34" charset="-122"/>
                <a:cs typeface="Hiragino Kaku Gothic ProN" pitchFamily="34" charset="-120"/>
              </a:rPr>
              <a:t>PLUS</a:t>
            </a:r>
            <a:endParaRPr lang="en-US" sz="1400" dirty="0"/>
          </a:p>
        </p:txBody>
      </p:sp>
      <p:sp>
        <p:nvSpPr>
          <p:cNvPr id="20" name="Text 18"/>
          <p:cNvSpPr/>
          <p:nvPr/>
        </p:nvSpPr>
        <p:spPr>
          <a:xfrm>
            <a:off x="8284464" y="2331720"/>
            <a:ext cx="2999232" cy="256032"/>
          </a:xfrm>
          <a:prstGeom prst="rect">
            <a:avLst/>
          </a:prstGeom>
          <a:noFill/>
          <a:ln/>
        </p:spPr>
        <p:txBody>
          <a:bodyPr wrap="square" lIns="0" tIns="0" rIns="0" bIns="0" rtlCol="0" anchor="t"/>
          <a:lstStyle/>
          <a:p>
            <a:pPr algn="l" indent="0" marL="0">
              <a:lnSpc>
                <a:spcPct val="130000"/>
              </a:lnSpc>
              <a:buNone/>
            </a:pPr>
            <a:r>
              <a:rPr lang="en-US" sz="950" b="1" dirty="0">
                <a:solidFill>
                  <a:srgbClr val="B45309"/>
                </a:solidFill>
                <a:latin typeface="Hiragino Kaku Gothic ProN" pitchFamily="34" charset="0"/>
                <a:ea typeface="Hiragino Kaku Gothic ProN" pitchFamily="34" charset="-122"/>
                <a:cs typeface="Hiragino Kaku Gothic ProN" pitchFamily="34" charset="-120"/>
              </a:rPr>
              <a:t>高頻度・中規模以上に</a:t>
            </a:r>
            <a:endParaRPr lang="en-US" sz="950" dirty="0"/>
          </a:p>
        </p:txBody>
      </p:sp>
      <p:sp>
        <p:nvSpPr>
          <p:cNvPr id="21" name="Text 19"/>
          <p:cNvSpPr/>
          <p:nvPr/>
        </p:nvSpPr>
        <p:spPr>
          <a:xfrm>
            <a:off x="8284464" y="2624328"/>
            <a:ext cx="2999232" cy="457200"/>
          </a:xfrm>
          <a:prstGeom prst="rect">
            <a:avLst/>
          </a:prstGeom>
          <a:noFill/>
          <a:ln/>
        </p:spPr>
        <p:txBody>
          <a:bodyPr wrap="square" lIns="0" tIns="0" rIns="0" bIns="0" rtlCol="0" anchor="ctr"/>
          <a:lstStyle/>
          <a:p>
            <a:pPr algn="l" indent="0" marL="0">
              <a:buNone/>
            </a:pPr>
            <a:r>
              <a:rPr lang="en-US" sz="2300" b="1" dirty="0">
                <a:solidFill>
                  <a:srgbClr val="2E6B53"/>
                </a:solidFill>
                <a:latin typeface="Hiragino Kaku Gothic ProN" pitchFamily="34" charset="0"/>
                <a:ea typeface="Hiragino Kaku Gothic ProN" pitchFamily="34" charset="-122"/>
                <a:cs typeface="Hiragino Kaku Gothic ProN" pitchFamily="34" charset="-120"/>
              </a:rPr>
              <a:t>99,000円</a:t>
            </a:r>
            <a:pPr algn="l" indent="0" marL="0">
              <a:buNone/>
            </a:pPr>
            <a:r>
              <a:rPr lang="en-US" sz="1050" dirty="0">
                <a:solidFill>
                  <a:srgbClr val="6B7570"/>
                </a:solidFill>
                <a:latin typeface="Hiragino Kaku Gothic ProN" pitchFamily="34" charset="0"/>
                <a:ea typeface="Hiragino Kaku Gothic ProN" pitchFamily="34" charset="-122"/>
                <a:cs typeface="Hiragino Kaku Gothic ProN" pitchFamily="34" charset="-120"/>
              </a:rPr>
              <a:t> ／月（税別）</a:t>
            </a:r>
            <a:endParaRPr lang="en-US" sz="2300" dirty="0"/>
          </a:p>
        </p:txBody>
      </p:sp>
      <p:sp>
        <p:nvSpPr>
          <p:cNvPr id="22" name="Shape 20"/>
          <p:cNvSpPr/>
          <p:nvPr/>
        </p:nvSpPr>
        <p:spPr>
          <a:xfrm>
            <a:off x="8284464" y="3227832"/>
            <a:ext cx="2999232" cy="0"/>
          </a:xfrm>
          <a:prstGeom prst="line">
            <a:avLst/>
          </a:prstGeom>
          <a:noFill/>
          <a:ln w="9525">
            <a:solidFill>
              <a:srgbClr val="D6E0D9"/>
            </a:solidFill>
            <a:prstDash val="solid"/>
          </a:ln>
        </p:spPr>
      </p:sp>
      <p:sp>
        <p:nvSpPr>
          <p:cNvPr id="23" name="Text 21"/>
          <p:cNvSpPr/>
          <p:nvPr/>
        </p:nvSpPr>
        <p:spPr>
          <a:xfrm>
            <a:off x="8284464" y="3355848"/>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Case枠  月18件（超過 2,000円／件）</a:t>
            </a:r>
            <a:endParaRPr lang="en-US" sz="950" dirty="0"/>
          </a:p>
        </p:txBody>
      </p:sp>
      <p:sp>
        <p:nvSpPr>
          <p:cNvPr id="24" name="Text 22"/>
          <p:cNvSpPr/>
          <p:nvPr/>
        </p:nvSpPr>
        <p:spPr>
          <a:xfrm>
            <a:off x="8284464" y="3685032"/>
            <a:ext cx="2999232" cy="27432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予約枠  月18件（超過 3,000円／件）</a:t>
            </a:r>
            <a:endParaRPr lang="en-US" sz="950" dirty="0"/>
          </a:p>
        </p:txBody>
      </p:sp>
      <p:sp>
        <p:nvSpPr>
          <p:cNvPr id="25" name="Shape 23"/>
          <p:cNvSpPr/>
          <p:nvPr/>
        </p:nvSpPr>
        <p:spPr>
          <a:xfrm>
            <a:off x="640080" y="4434840"/>
            <a:ext cx="10911535" cy="1371600"/>
          </a:xfrm>
          <a:prstGeom prst="roundRect">
            <a:avLst>
              <a:gd name="adj" fmla="val 3667"/>
            </a:avLst>
          </a:prstGeom>
          <a:solidFill>
            <a:srgbClr val="F1F5F2"/>
          </a:solidFill>
          <a:ln w="12700">
            <a:solidFill>
              <a:srgbClr val="D6E0D9"/>
            </a:solidFill>
            <a:prstDash val="solid"/>
          </a:ln>
        </p:spPr>
      </p:sp>
      <p:sp>
        <p:nvSpPr>
          <p:cNvPr id="26" name="Text 24"/>
          <p:cNvSpPr/>
          <p:nvPr/>
        </p:nvSpPr>
        <p:spPr>
          <a:xfrm>
            <a:off x="960120" y="4636008"/>
            <a:ext cx="10271455" cy="292608"/>
          </a:xfrm>
          <a:prstGeom prst="rect">
            <a:avLst/>
          </a:prstGeom>
          <a:noFill/>
          <a:ln/>
        </p:spPr>
        <p:txBody>
          <a:bodyPr wrap="square" lIns="0" tIns="0" rIns="0" bIns="0" rtlCol="0" anchor="t"/>
          <a:lstStyle/>
          <a:p>
            <a:pPr algn="l" indent="0" marL="0">
              <a:lnSpc>
                <a:spcPct val="130000"/>
              </a:lnSpc>
              <a:buNone/>
            </a:pPr>
            <a:r>
              <a:rPr lang="en-US" sz="1150" b="1" dirty="0">
                <a:solidFill>
                  <a:srgbClr val="2E6B53"/>
                </a:solidFill>
                <a:latin typeface="Hiragino Kaku Gothic ProN" pitchFamily="34" charset="0"/>
                <a:ea typeface="Hiragino Kaku Gothic ProN" pitchFamily="34" charset="-122"/>
                <a:cs typeface="Hiragino Kaku Gothic ProN" pitchFamily="34" charset="-120"/>
              </a:rPr>
              <a:t>料金に含まれるもの・含まれないもの</a:t>
            </a:r>
            <a:endParaRPr lang="en-US" sz="1150" dirty="0"/>
          </a:p>
        </p:txBody>
      </p:sp>
      <p:sp>
        <p:nvSpPr>
          <p:cNvPr id="27" name="Text 25"/>
          <p:cNvSpPr/>
          <p:nvPr/>
        </p:nvSpPr>
        <p:spPr>
          <a:xfrm>
            <a:off x="960120" y="4965192"/>
            <a:ext cx="10271455" cy="731520"/>
          </a:xfrm>
          <a:prstGeom prst="rect">
            <a:avLst/>
          </a:prstGeom>
          <a:noFill/>
          <a:ln/>
        </p:spPr>
        <p:txBody>
          <a:bodyPr wrap="square" lIns="0" tIns="0" rIns="0" bIns="0" rtlCol="0" anchor="t"/>
          <a:lstStyle/>
          <a:p>
            <a:pPr algn="l" indent="0" marL="0">
              <a:lnSpc>
                <a:spcPct val="140000"/>
              </a:lnSpc>
              <a:buNone/>
            </a:pPr>
            <a:r>
              <a:rPr lang="en-US" sz="1000" b="1" dirty="0">
                <a:solidFill>
                  <a:srgbClr val="1A2421"/>
                </a:solidFill>
                <a:latin typeface="Hiragino Kaku Gothic ProN" pitchFamily="34" charset="0"/>
                <a:ea typeface="Hiragino Kaku Gothic ProN" pitchFamily="34" charset="-122"/>
                <a:cs typeface="Hiragino Kaku Gothic ProN" pitchFamily="34" charset="-120"/>
              </a:rPr>
              <a:t>含まれる： </a:t>
            </a:r>
            <a:pPr algn="l" indent="0" marL="0">
              <a:lnSpc>
                <a:spcPct val="140000"/>
              </a:lnSpc>
              <a:buNone/>
            </a:pPr>
            <a:r>
              <a:rPr lang="en-US" sz="1000" dirty="0">
                <a:solidFill>
                  <a:srgbClr val="1A2421"/>
                </a:solidFill>
                <a:latin typeface="Hiragino Kaku Gothic ProN" pitchFamily="34" charset="0"/>
                <a:ea typeface="Hiragino Kaku Gothic ProN" pitchFamily="34" charset="-122"/>
                <a:cs typeface="Hiragino Kaku Gothic ProN" pitchFamily="34" charset="-120"/>
              </a:rPr>
              <a:t>システム利用、企業ポータル・産業医ポータル、記録・証跡の管理</a:t>
            </a:r>
            <a:endParaRPr lang="en-US" sz="1000" dirty="0"/>
          </a:p>
          <a:p>
            <a:pPr algn="l" indent="0" marL="0">
              <a:lnSpc>
                <a:spcPct val="140000"/>
              </a:lnSpc>
              <a:buNone/>
            </a:pPr>
            <a:r>
              <a:rPr lang="en-US" sz="1000" b="1" dirty="0">
                <a:solidFill>
                  <a:srgbClr val="1A2421"/>
                </a:solidFill>
                <a:latin typeface="Hiragino Kaku Gothic ProN" pitchFamily="34" charset="0"/>
                <a:ea typeface="Hiragino Kaku Gothic ProN" pitchFamily="34" charset="-122"/>
                <a:cs typeface="Hiragino Kaku Gothic ProN" pitchFamily="34" charset="-120"/>
              </a:rPr>
              <a:t>含まれない： </a:t>
            </a:r>
            <a:pPr algn="l" indent="0" marL="0">
              <a:lnSpc>
                <a:spcPct val="140000"/>
              </a:lnSpc>
              <a:buNone/>
            </a:pPr>
            <a:r>
              <a:rPr lang="en-US" sz="1000" dirty="0">
                <a:solidFill>
                  <a:srgbClr val="1A2421"/>
                </a:solidFill>
                <a:latin typeface="Hiragino Kaku Gothic ProN" pitchFamily="34" charset="0"/>
                <a:ea typeface="Hiragino Kaku Gothic ProN" pitchFamily="34" charset="-122"/>
                <a:cs typeface="Hiragino Kaku Gothic ProN" pitchFamily="34" charset="-120"/>
              </a:rPr>
              <a:t>産業医等の医師業務（面談・意見書など）。貴社の産業医・保健スタッフでそのまま運用できます。必要な場合は、案件単位で当事務所へご依頼も可能です（次ページ）。</a:t>
            </a:r>
            <a:endParaRPr lang="en-US" sz="1000" dirty="0"/>
          </a:p>
        </p:txBody>
      </p:sp>
      <p:sp>
        <p:nvSpPr>
          <p:cNvPr id="28" name="Text 26"/>
          <p:cNvSpPr/>
          <p:nvPr/>
        </p:nvSpPr>
        <p:spPr>
          <a:xfrm>
            <a:off x="640080" y="5943600"/>
            <a:ext cx="10911535" cy="274320"/>
          </a:xfrm>
          <a:prstGeom prst="rect">
            <a:avLst/>
          </a:prstGeom>
          <a:noFill/>
          <a:ln/>
        </p:spPr>
        <p:txBody>
          <a:bodyPr wrap="square" lIns="0" tIns="0" rIns="0" bIns="0" rtlCol="0" anchor="t"/>
          <a:lstStyle/>
          <a:p>
            <a:pPr algn="l" indent="0" marL="0">
              <a:lnSpc>
                <a:spcPct val="130000"/>
              </a:lnSpc>
              <a:buNone/>
            </a:pPr>
            <a:r>
              <a:rPr lang="en-US" sz="900" dirty="0">
                <a:solidFill>
                  <a:srgbClr val="6B7570"/>
                </a:solidFill>
                <a:latin typeface="Hiragino Kaku Gothic ProN" pitchFamily="34" charset="0"/>
                <a:ea typeface="Hiragino Kaku Gothic ProN" pitchFamily="34" charset="-122"/>
                <a:cs typeface="Hiragino Kaku Gothic ProN" pitchFamily="34" charset="-120"/>
              </a:rPr>
              <a:t>※ 運用設計・初期設定を支援するオンボーディング（100,000円・税別）を別途ご用意しています。</a:t>
            </a:r>
            <a:endParaRPr lang="en-US" sz="900" dirty="0"/>
          </a:p>
        </p:txBody>
      </p:sp>
      <p:sp>
        <p:nvSpPr>
          <p:cNvPr id="29" name="Text 27"/>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30" name="Text 28"/>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医師業務が必要になったときは</a:t>
            </a:r>
            <a:endParaRPr lang="en-US" sz="2100" dirty="0"/>
          </a:p>
        </p:txBody>
      </p:sp>
      <p:sp>
        <p:nvSpPr>
          <p:cNvPr id="3" name="Text 1"/>
          <p:cNvSpPr/>
          <p:nvPr/>
        </p:nvSpPr>
        <p:spPr>
          <a:xfrm>
            <a:off x="640080" y="1024128"/>
            <a:ext cx="10911535" cy="502920"/>
          </a:xfrm>
          <a:prstGeom prst="rect">
            <a:avLst/>
          </a:prstGeom>
          <a:noFill/>
          <a:ln/>
        </p:spPr>
        <p:txBody>
          <a:bodyPr wrap="square" lIns="0" tIns="0" rIns="0" bIns="0" rtlCol="0" anchor="t"/>
          <a:lstStyle/>
          <a:p>
            <a:pPr algn="l" indent="0" marL="0">
              <a:lnSpc>
                <a:spcPct val="125000"/>
              </a:lnSpc>
              <a:buNone/>
            </a:pPr>
            <a:r>
              <a:rPr lang="en-US" sz="1100" dirty="0">
                <a:solidFill>
                  <a:srgbClr val="6B7570"/>
                </a:solidFill>
                <a:latin typeface="Hiragino Kaku Gothic ProN" pitchFamily="34" charset="0"/>
                <a:ea typeface="Hiragino Kaku Gothic ProN" pitchFamily="34" charset="-122"/>
                <a:cs typeface="Hiragino Kaku Gothic ProN" pitchFamily="34" charset="-120"/>
              </a:rPr>
              <a:t>CASETRAはシステム利用のご契約です。医師業務は、必要なときに必要な分だけ。契約と請求は、常に分けて明示します。</a:t>
            </a:r>
            <a:endParaRPr lang="en-US" sz="1100" dirty="0"/>
          </a:p>
        </p:txBody>
      </p:sp>
      <p:sp>
        <p:nvSpPr>
          <p:cNvPr id="4" name="Shape 2"/>
          <p:cNvSpPr/>
          <p:nvPr/>
        </p:nvSpPr>
        <p:spPr>
          <a:xfrm>
            <a:off x="640080" y="1920240"/>
            <a:ext cx="6309360" cy="1691640"/>
          </a:xfrm>
          <a:prstGeom prst="roundRect">
            <a:avLst>
              <a:gd name="adj" fmla="val 2973"/>
            </a:avLst>
          </a:prstGeom>
          <a:solidFill>
            <a:srgbClr val="FFFFFF"/>
          </a:solidFill>
          <a:ln w="12700">
            <a:solidFill>
              <a:srgbClr val="D6E0D9"/>
            </a:solidFill>
            <a:prstDash val="solid"/>
          </a:ln>
        </p:spPr>
      </p:sp>
      <p:sp>
        <p:nvSpPr>
          <p:cNvPr id="5" name="Text 3"/>
          <p:cNvSpPr/>
          <p:nvPr/>
        </p:nvSpPr>
        <p:spPr>
          <a:xfrm>
            <a:off x="859536" y="2103120"/>
            <a:ext cx="457200" cy="411480"/>
          </a:xfrm>
          <a:prstGeom prst="rect">
            <a:avLst/>
          </a:prstGeom>
          <a:noFill/>
          <a:ln/>
        </p:spPr>
        <p:txBody>
          <a:bodyPr wrap="square" lIns="0" tIns="0" rIns="0" bIns="0" rtlCol="0" anchor="t"/>
          <a:lstStyle/>
          <a:p>
            <a:pPr algn="l" indent="0" marL="0">
              <a:lnSpc>
                <a:spcPct val="130000"/>
              </a:lnSpc>
              <a:buNone/>
            </a:pPr>
            <a:r>
              <a:rPr lang="en-US" sz="1800" b="1" dirty="0">
                <a:solidFill>
                  <a:srgbClr val="D6E0D9"/>
                </a:solidFill>
                <a:latin typeface="Hiragino Kaku Gothic ProN" pitchFamily="34" charset="0"/>
                <a:ea typeface="Hiragino Kaku Gothic ProN" pitchFamily="34" charset="-122"/>
                <a:cs typeface="Hiragino Kaku Gothic ProN" pitchFamily="34" charset="-120"/>
              </a:rPr>
              <a:t>A</a:t>
            </a:r>
            <a:endParaRPr lang="en-US" sz="1800" dirty="0"/>
          </a:p>
        </p:txBody>
      </p:sp>
      <p:sp>
        <p:nvSpPr>
          <p:cNvPr id="6" name="Text 4"/>
          <p:cNvSpPr/>
          <p:nvPr/>
        </p:nvSpPr>
        <p:spPr>
          <a:xfrm>
            <a:off x="1353312" y="2139696"/>
            <a:ext cx="5394960" cy="347472"/>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CASETRA ＋ 必要時のみ依頼</a:t>
            </a:r>
            <a:endParaRPr lang="en-US" sz="1250" dirty="0"/>
          </a:p>
        </p:txBody>
      </p:sp>
      <p:sp>
        <p:nvSpPr>
          <p:cNvPr id="7" name="Text 5"/>
          <p:cNvSpPr/>
          <p:nvPr/>
        </p:nvSpPr>
        <p:spPr>
          <a:xfrm>
            <a:off x="896112" y="2578608"/>
            <a:ext cx="5797296" cy="868680"/>
          </a:xfrm>
          <a:prstGeom prst="rect">
            <a:avLst/>
          </a:prstGeom>
          <a:noFill/>
          <a:ln/>
        </p:spPr>
        <p:txBody>
          <a:bodyPr wrap="square" lIns="0" tIns="0" rIns="0" bIns="0" rtlCol="0" anchor="t"/>
          <a:lstStyle/>
          <a:p>
            <a:pPr algn="l" indent="0" marL="0">
              <a:lnSpc>
                <a:spcPct val="135000"/>
              </a:lnSpc>
              <a:buNone/>
            </a:pPr>
            <a:r>
              <a:rPr lang="en-US" sz="1000" dirty="0">
                <a:solidFill>
                  <a:srgbClr val="1A2421"/>
                </a:solidFill>
                <a:latin typeface="Hiragino Kaku Gothic ProN" pitchFamily="34" charset="0"/>
                <a:ea typeface="Hiragino Kaku Gothic ProN" pitchFamily="34" charset="-122"/>
                <a:cs typeface="Hiragino Kaku Gothic ProN" pitchFamily="34" charset="-120"/>
              </a:rPr>
              <a:t>貴社の人事・産業医で日常運用し、休復職面談や意見書など、専門業務が必要なときだけ当事務所（KIDUKI）へ案件単位でご依頼いただけます。CASETRA契約企業には、右の契約者料金を適用します。</a:t>
            </a:r>
            <a:endParaRPr lang="en-US" sz="1000" dirty="0"/>
          </a:p>
        </p:txBody>
      </p:sp>
      <p:sp>
        <p:nvSpPr>
          <p:cNvPr id="8" name="Shape 6"/>
          <p:cNvSpPr/>
          <p:nvPr/>
        </p:nvSpPr>
        <p:spPr>
          <a:xfrm>
            <a:off x="640080" y="3813048"/>
            <a:ext cx="6309360" cy="1691640"/>
          </a:xfrm>
          <a:prstGeom prst="roundRect">
            <a:avLst>
              <a:gd name="adj" fmla="val 2973"/>
            </a:avLst>
          </a:prstGeom>
          <a:solidFill>
            <a:srgbClr val="FFFFFF"/>
          </a:solidFill>
          <a:ln w="12700">
            <a:solidFill>
              <a:srgbClr val="D6E0D9"/>
            </a:solidFill>
            <a:prstDash val="solid"/>
          </a:ln>
        </p:spPr>
      </p:sp>
      <p:sp>
        <p:nvSpPr>
          <p:cNvPr id="9" name="Text 7"/>
          <p:cNvSpPr/>
          <p:nvPr/>
        </p:nvSpPr>
        <p:spPr>
          <a:xfrm>
            <a:off x="859536" y="3995928"/>
            <a:ext cx="457200" cy="411480"/>
          </a:xfrm>
          <a:prstGeom prst="rect">
            <a:avLst/>
          </a:prstGeom>
          <a:noFill/>
          <a:ln/>
        </p:spPr>
        <p:txBody>
          <a:bodyPr wrap="square" lIns="0" tIns="0" rIns="0" bIns="0" rtlCol="0" anchor="t"/>
          <a:lstStyle/>
          <a:p>
            <a:pPr algn="l" indent="0" marL="0">
              <a:lnSpc>
                <a:spcPct val="130000"/>
              </a:lnSpc>
              <a:buNone/>
            </a:pPr>
            <a:r>
              <a:rPr lang="en-US" sz="1800" b="1" dirty="0">
                <a:solidFill>
                  <a:srgbClr val="D6E0D9"/>
                </a:solidFill>
                <a:latin typeface="Hiragino Kaku Gothic ProN" pitchFamily="34" charset="0"/>
                <a:ea typeface="Hiragino Kaku Gothic ProN" pitchFamily="34" charset="-122"/>
                <a:cs typeface="Hiragino Kaku Gothic ProN" pitchFamily="34" charset="-120"/>
              </a:rPr>
              <a:t>B</a:t>
            </a:r>
            <a:endParaRPr lang="en-US" sz="1800" dirty="0"/>
          </a:p>
        </p:txBody>
      </p:sp>
      <p:sp>
        <p:nvSpPr>
          <p:cNvPr id="10" name="Text 8"/>
          <p:cNvSpPr/>
          <p:nvPr/>
        </p:nvSpPr>
        <p:spPr>
          <a:xfrm>
            <a:off x="1353312" y="4032504"/>
            <a:ext cx="5394960" cy="347472"/>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嘱託産業医とあわせて（Retain ＋ CASETRA）</a:t>
            </a:r>
            <a:endParaRPr lang="en-US" sz="1250" dirty="0"/>
          </a:p>
        </p:txBody>
      </p:sp>
      <p:sp>
        <p:nvSpPr>
          <p:cNvPr id="11" name="Text 9"/>
          <p:cNvSpPr/>
          <p:nvPr/>
        </p:nvSpPr>
        <p:spPr>
          <a:xfrm>
            <a:off x="896112" y="4471416"/>
            <a:ext cx="5797296" cy="868680"/>
          </a:xfrm>
          <a:prstGeom prst="rect">
            <a:avLst/>
          </a:prstGeom>
          <a:noFill/>
          <a:ln/>
        </p:spPr>
        <p:txBody>
          <a:bodyPr wrap="square" lIns="0" tIns="0" rIns="0" bIns="0" rtlCol="0" anchor="t"/>
          <a:lstStyle/>
          <a:p>
            <a:pPr algn="l" indent="0" marL="0">
              <a:lnSpc>
                <a:spcPct val="135000"/>
              </a:lnSpc>
              <a:buNone/>
            </a:pPr>
            <a:r>
              <a:rPr lang="en-US" sz="1000" dirty="0">
                <a:solidFill>
                  <a:srgbClr val="1A2421"/>
                </a:solidFill>
                <a:latin typeface="Hiragino Kaku Gothic ProN" pitchFamily="34" charset="0"/>
                <a:ea typeface="Hiragino Kaku Gothic ProN" pitchFamily="34" charset="-122"/>
                <a:cs typeface="Hiragino Kaku Gothic ProN" pitchFamily="34" charset="-120"/>
              </a:rPr>
              <a:t>当事務所が嘱託産業医として継続対応し、貴社もポータルで案件を管理する形です。この場合、CASETRAの月額基本料を20,000円割り引きます（例：STANDARD 60,000円 → 40,000円）。</a:t>
            </a:r>
            <a:endParaRPr lang="en-US" sz="1000" dirty="0"/>
          </a:p>
        </p:txBody>
      </p:sp>
      <p:sp>
        <p:nvSpPr>
          <p:cNvPr id="12" name="Text 10"/>
          <p:cNvSpPr/>
          <p:nvPr/>
        </p:nvSpPr>
        <p:spPr>
          <a:xfrm>
            <a:off x="640080" y="5751576"/>
            <a:ext cx="6309360" cy="320040"/>
          </a:xfrm>
          <a:prstGeom prst="rect">
            <a:avLst/>
          </a:prstGeom>
          <a:noFill/>
          <a:ln/>
        </p:spPr>
        <p:txBody>
          <a:bodyPr wrap="square" lIns="0" tIns="0" rIns="0" bIns="0" rtlCol="0" anchor="t"/>
          <a:lstStyle/>
          <a:p>
            <a:pPr algn="l" indent="0" marL="0">
              <a:lnSpc>
                <a:spcPct val="130000"/>
              </a:lnSpc>
              <a:buNone/>
            </a:pPr>
            <a:r>
              <a:rPr lang="en-US" sz="900" dirty="0">
                <a:solidFill>
                  <a:srgbClr val="6B7570"/>
                </a:solidFill>
                <a:latin typeface="Hiragino Kaku Gothic ProN" pitchFamily="34" charset="0"/>
                <a:ea typeface="Hiragino Kaku Gothic ProN" pitchFamily="34" charset="-122"/>
                <a:cs typeface="Hiragino Kaku Gothic ProN" pitchFamily="34" charset="-120"/>
              </a:rPr>
              <a:t>※ 産業医業務を中心にご検討の場合は、別資料「KIDUKI サービスのご案内」をご覧ください。</a:t>
            </a:r>
            <a:endParaRPr lang="en-US" sz="900" dirty="0"/>
          </a:p>
        </p:txBody>
      </p:sp>
      <p:sp>
        <p:nvSpPr>
          <p:cNvPr id="13" name="Text 11"/>
          <p:cNvSpPr/>
          <p:nvPr/>
        </p:nvSpPr>
        <p:spPr>
          <a:xfrm>
            <a:off x="7315200" y="1920240"/>
            <a:ext cx="4236415" cy="292608"/>
          </a:xfrm>
          <a:prstGeom prst="rect">
            <a:avLst/>
          </a:prstGeom>
          <a:noFill/>
          <a:ln/>
        </p:spPr>
        <p:txBody>
          <a:bodyPr wrap="square" lIns="0" tIns="0" rIns="0" bIns="0" rtlCol="0" anchor="t"/>
          <a:lstStyle/>
          <a:p>
            <a:pPr algn="l" indent="0" marL="0">
              <a:lnSpc>
                <a:spcPct val="130000"/>
              </a:lnSpc>
              <a:buNone/>
            </a:pPr>
            <a:r>
              <a:rPr lang="en-US" sz="1150" b="1" dirty="0">
                <a:solidFill>
                  <a:srgbClr val="0F3D2E"/>
                </a:solidFill>
                <a:latin typeface="Hiragino Kaku Gothic ProN" pitchFamily="34" charset="0"/>
                <a:ea typeface="Hiragino Kaku Gothic ProN" pitchFamily="34" charset="-122"/>
                <a:cs typeface="Hiragino Kaku Gothic ProN" pitchFamily="34" charset="-120"/>
              </a:rPr>
              <a:t>契約者料金（主なオンライン業務）</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0" y="2286000"/>
          <a:ext cx="4236415" cy="914400"/>
        </p:xfrm>
        <a:graphic>
          <a:graphicData uri="http://schemas.openxmlformats.org/drawingml/2006/table">
            <a:tbl>
              <a:tblPr/>
              <a:tblGrid>
                <a:gridCol w="3017520"/>
                <a:gridCol w="1216152"/>
              </a:tblGrid>
              <a:tr h="365760">
                <a:tc>
                  <a:txBody>
                    <a:bodyPr/>
                    <a:lstStyle/>
                    <a:p>
                      <a:pPr algn="l" indent="0" marL="0">
                        <a:buNone/>
                      </a:pPr>
                      <a:r>
                        <a:rPr lang="en-US" sz="950" b="1" dirty="0">
                          <a:solidFill>
                            <a:srgbClr val="FFFFFF"/>
                          </a:solidFill>
                          <a:latin typeface="Hiragino Kaku Gothic ProN" pitchFamily="34" charset="0"/>
                          <a:ea typeface="Hiragino Kaku Gothic ProN" pitchFamily="34" charset="-122"/>
                          <a:cs typeface="Hiragino Kaku Gothic ProN" pitchFamily="34" charset="-120"/>
                        </a:rPr>
                        <a:t>業務</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1A4D3A"/>
                    </a:solidFill>
                  </a:tcPr>
                </a:tc>
                <a:tc>
                  <a:txBody>
                    <a:bodyPr/>
                    <a:lstStyle/>
                    <a:p>
                      <a:pPr algn="l" indent="0" marL="0">
                        <a:buNone/>
                      </a:pPr>
                      <a:r>
                        <a:rPr lang="en-US" sz="950" b="1" dirty="0">
                          <a:solidFill>
                            <a:srgbClr val="FFFFFF"/>
                          </a:solidFill>
                          <a:latin typeface="Hiragino Kaku Gothic ProN" pitchFamily="34" charset="0"/>
                          <a:ea typeface="Hiragino Kaku Gothic ProN" pitchFamily="34" charset="-122"/>
                          <a:cs typeface="Hiragino Kaku Gothic ProN" pitchFamily="34" charset="-120"/>
                        </a:rPr>
                        <a:t>料金</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1A4D3A"/>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健康相談 等（20分）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14,000円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ストレス・その他面談（30分）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20,000円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復職・体調相談（40分）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27,000円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人事フィードバック（15分）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10,000円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人事フィードバック（30分）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20,000円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r h="365760">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診療情報提供依頼書 等</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5,000円</a:t>
                      </a:r>
                      <a:endParaRPr lang="en-US" sz="950" dirty="0">
                        <a:latin typeface="Hiragino Kaku Gothic ProN" charset="0"/>
                        <a:ea typeface="Hiragino Kaku Gothic ProN" charset="0"/>
                        <a:cs typeface="Hiragino Kaku Gothic ProN" charset="0"/>
                      </a:endParaRPr>
                    </a:p>
                  </a:txBody>
                  <a:tcPr marL="64008" marR="64008" marT="27432" marB="27432" anchor="ctr">
                    <a:lnL w="9525" cap="flat" cmpd="sng" algn="ctr">
                      <a:solidFill>
                        <a:srgbClr val="D6E0D9"/>
                      </a:solidFill>
                      <a:prstDash val="solid"/>
                      <a:round/>
                      <a:headEnd type="none" w="med" len="med"/>
                      <a:tailEnd type="none" w="med" len="med"/>
                    </a:lnL>
                    <a:lnR w="9525" cap="flat" cmpd="sng" algn="ctr">
                      <a:solidFill>
                        <a:srgbClr val="D6E0D9"/>
                      </a:solidFill>
                      <a:prstDash val="solid"/>
                      <a:round/>
                      <a:headEnd type="none" w="med" len="med"/>
                      <a:tailEnd type="none" w="med" len="med"/>
                    </a:lnR>
                    <a:lnT w="9525" cap="flat" cmpd="sng" algn="ctr">
                      <a:solidFill>
                        <a:srgbClr val="D6E0D9"/>
                      </a:solidFill>
                      <a:prstDash val="solid"/>
                      <a:round/>
                      <a:headEnd type="none" w="med" len="med"/>
                      <a:tailEnd type="none" w="med" len="med"/>
                    </a:lnT>
                    <a:lnB w="9525" cap="flat" cmpd="sng" algn="ctr">
                      <a:solidFill>
                        <a:srgbClr val="D6E0D9"/>
                      </a:solidFill>
                      <a:prstDash val="solid"/>
                      <a:round/>
                      <a:headEnd type="none" w="med" len="med"/>
                      <a:tailEnd type="none" w="med" len="med"/>
                    </a:lnB>
                    <a:solidFill>
                      <a:srgbClr val="FFFFFF"/>
                    </a:solidFill>
                  </a:tcPr>
                </a:tc>
              </a:tr>
            </a:tbl>
          </a:graphicData>
        </a:graphic>
      </p:graphicFrame>
      <p:sp>
        <p:nvSpPr>
          <p:cNvPr id="15" name="Text 12"/>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16" name="Text 13"/>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75488"/>
            <a:ext cx="10911535" cy="502920"/>
          </a:xfrm>
          <a:prstGeom prst="rect">
            <a:avLst/>
          </a:prstGeom>
          <a:noFill/>
          <a:ln/>
        </p:spPr>
        <p:txBody>
          <a:bodyPr wrap="square" lIns="0" tIns="0" rIns="0" bIns="0" rtlCol="0" anchor="ctr"/>
          <a:lstStyle/>
          <a:p>
            <a:pPr algn="l" indent="0" marL="0">
              <a:buNone/>
            </a:pPr>
            <a:r>
              <a:rPr lang="en-US" sz="2100" b="1" dirty="0">
                <a:solidFill>
                  <a:srgbClr val="0F3D2E"/>
                </a:solidFill>
                <a:latin typeface="Hiragino Mincho ProN" pitchFamily="34" charset="0"/>
                <a:ea typeface="Hiragino Mincho ProN" pitchFamily="34" charset="-122"/>
                <a:cs typeface="Hiragino Mincho ProN" pitchFamily="34" charset="-120"/>
              </a:rPr>
              <a:t>導入の流れ</a:t>
            </a:r>
            <a:endParaRPr lang="en-US" sz="2100" dirty="0"/>
          </a:p>
        </p:txBody>
      </p:sp>
      <p:sp>
        <p:nvSpPr>
          <p:cNvPr id="3" name="Shape 1"/>
          <p:cNvSpPr/>
          <p:nvPr/>
        </p:nvSpPr>
        <p:spPr>
          <a:xfrm>
            <a:off x="640080" y="1554480"/>
            <a:ext cx="2615184" cy="2011680"/>
          </a:xfrm>
          <a:prstGeom prst="roundRect">
            <a:avLst>
              <a:gd name="adj" fmla="val 2500"/>
            </a:avLst>
          </a:prstGeom>
          <a:solidFill>
            <a:srgbClr val="FFFFFF"/>
          </a:solidFill>
          <a:ln w="12700">
            <a:solidFill>
              <a:srgbClr val="D6E0D9"/>
            </a:solidFill>
            <a:prstDash val="solid"/>
          </a:ln>
        </p:spPr>
      </p:sp>
      <p:sp>
        <p:nvSpPr>
          <p:cNvPr id="4" name="Shape 2"/>
          <p:cNvSpPr/>
          <p:nvPr/>
        </p:nvSpPr>
        <p:spPr>
          <a:xfrm>
            <a:off x="841248" y="1773936"/>
            <a:ext cx="310896" cy="310896"/>
          </a:xfrm>
          <a:prstGeom prst="ellipse">
            <a:avLst/>
          </a:prstGeom>
          <a:solidFill>
            <a:srgbClr val="1A4D3A"/>
          </a:solidFill>
          <a:ln/>
        </p:spPr>
      </p:sp>
      <p:sp>
        <p:nvSpPr>
          <p:cNvPr id="5" name="Text 3"/>
          <p:cNvSpPr/>
          <p:nvPr/>
        </p:nvSpPr>
        <p:spPr>
          <a:xfrm>
            <a:off x="749808" y="1746504"/>
            <a:ext cx="49377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1</a:t>
            </a:r>
            <a:endParaRPr lang="en-US" sz="1200" dirty="0"/>
          </a:p>
        </p:txBody>
      </p:sp>
      <p:sp>
        <p:nvSpPr>
          <p:cNvPr id="6" name="Text 4"/>
          <p:cNvSpPr/>
          <p:nvPr/>
        </p:nvSpPr>
        <p:spPr>
          <a:xfrm>
            <a:off x="1261872" y="1792224"/>
            <a:ext cx="1792224" cy="310896"/>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現状確認</a:t>
            </a:r>
            <a:endParaRPr lang="en-US" sz="1250" dirty="0"/>
          </a:p>
        </p:txBody>
      </p:sp>
      <p:sp>
        <p:nvSpPr>
          <p:cNvPr id="7" name="Text 5"/>
          <p:cNvSpPr/>
          <p:nvPr/>
        </p:nvSpPr>
        <p:spPr>
          <a:xfrm>
            <a:off x="859536" y="2267712"/>
            <a:ext cx="2176272" cy="256032"/>
          </a:xfrm>
          <a:prstGeom prst="rect">
            <a:avLst/>
          </a:prstGeom>
          <a:noFill/>
          <a:ln/>
        </p:spPr>
        <p:txBody>
          <a:bodyPr wrap="square" lIns="0" tIns="0" rIns="0" bIns="0" rtlCol="0" anchor="t"/>
          <a:lstStyle/>
          <a:p>
            <a:pPr algn="l" indent="0" marL="0">
              <a:lnSpc>
                <a:spcPct val="130000"/>
              </a:lnSpc>
              <a:buNone/>
            </a:pPr>
            <a:r>
              <a:rPr lang="en-US" sz="850" b="1" dirty="0">
                <a:solidFill>
                  <a:srgbClr val="B45309"/>
                </a:solidFill>
                <a:latin typeface="Hiragino Kaku Gothic ProN" pitchFamily="34" charset="0"/>
                <a:ea typeface="Hiragino Kaku Gothic ProN" pitchFamily="34" charset="-122"/>
                <a:cs typeface="Hiragino Kaku Gothic ProN" pitchFamily="34" charset="-120"/>
              </a:rPr>
              <a:t>無料・オンライン15分</a:t>
            </a:r>
            <a:endParaRPr lang="en-US" sz="850" dirty="0"/>
          </a:p>
        </p:txBody>
      </p:sp>
      <p:sp>
        <p:nvSpPr>
          <p:cNvPr id="8" name="Text 6"/>
          <p:cNvSpPr/>
          <p:nvPr/>
        </p:nvSpPr>
        <p:spPr>
          <a:xfrm>
            <a:off x="859536" y="2578608"/>
            <a:ext cx="2176272" cy="82296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月の案件数・面談数・運用体制を伺います。</a:t>
            </a:r>
            <a:endParaRPr lang="en-US" sz="950" dirty="0"/>
          </a:p>
        </p:txBody>
      </p:sp>
      <p:sp>
        <p:nvSpPr>
          <p:cNvPr id="9" name="Shape 7"/>
          <p:cNvSpPr/>
          <p:nvPr/>
        </p:nvSpPr>
        <p:spPr>
          <a:xfrm>
            <a:off x="3401568" y="1554480"/>
            <a:ext cx="2615184" cy="2011680"/>
          </a:xfrm>
          <a:prstGeom prst="roundRect">
            <a:avLst>
              <a:gd name="adj" fmla="val 2500"/>
            </a:avLst>
          </a:prstGeom>
          <a:solidFill>
            <a:srgbClr val="FFFFFF"/>
          </a:solidFill>
          <a:ln w="12700">
            <a:solidFill>
              <a:srgbClr val="D6E0D9"/>
            </a:solidFill>
            <a:prstDash val="solid"/>
          </a:ln>
        </p:spPr>
      </p:sp>
      <p:sp>
        <p:nvSpPr>
          <p:cNvPr id="10" name="Shape 8"/>
          <p:cNvSpPr/>
          <p:nvPr/>
        </p:nvSpPr>
        <p:spPr>
          <a:xfrm>
            <a:off x="3602736" y="1773936"/>
            <a:ext cx="310896" cy="310896"/>
          </a:xfrm>
          <a:prstGeom prst="ellipse">
            <a:avLst/>
          </a:prstGeom>
          <a:solidFill>
            <a:srgbClr val="1A4D3A"/>
          </a:solidFill>
          <a:ln/>
        </p:spPr>
      </p:sp>
      <p:sp>
        <p:nvSpPr>
          <p:cNvPr id="11" name="Text 9"/>
          <p:cNvSpPr/>
          <p:nvPr/>
        </p:nvSpPr>
        <p:spPr>
          <a:xfrm>
            <a:off x="3511296" y="1746504"/>
            <a:ext cx="49377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2</a:t>
            </a:r>
            <a:endParaRPr lang="en-US" sz="1200" dirty="0"/>
          </a:p>
        </p:txBody>
      </p:sp>
      <p:sp>
        <p:nvSpPr>
          <p:cNvPr id="12" name="Text 10"/>
          <p:cNvSpPr/>
          <p:nvPr/>
        </p:nvSpPr>
        <p:spPr>
          <a:xfrm>
            <a:off x="4023360" y="1792224"/>
            <a:ext cx="1792224" cy="310896"/>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プラン選定</a:t>
            </a:r>
            <a:endParaRPr lang="en-US" sz="1250" dirty="0"/>
          </a:p>
        </p:txBody>
      </p:sp>
      <p:sp>
        <p:nvSpPr>
          <p:cNvPr id="13" name="Text 11"/>
          <p:cNvSpPr/>
          <p:nvPr/>
        </p:nvSpPr>
        <p:spPr>
          <a:xfrm>
            <a:off x="3621024" y="2267712"/>
            <a:ext cx="2176272" cy="256032"/>
          </a:xfrm>
          <a:prstGeom prst="rect">
            <a:avLst/>
          </a:prstGeom>
          <a:noFill/>
          <a:ln/>
        </p:spPr>
        <p:txBody>
          <a:bodyPr wrap="square" lIns="0" tIns="0" rIns="0" bIns="0" rtlCol="0" anchor="t"/>
          <a:lstStyle/>
          <a:p>
            <a:pPr algn="l" indent="0" marL="0">
              <a:lnSpc>
                <a:spcPct val="130000"/>
              </a:lnSpc>
              <a:buNone/>
            </a:pPr>
            <a:r>
              <a:rPr lang="en-US" sz="850" b="1" dirty="0">
                <a:solidFill>
                  <a:srgbClr val="B45309"/>
                </a:solidFill>
                <a:latin typeface="Hiragino Kaku Gothic ProN" pitchFamily="34" charset="0"/>
                <a:ea typeface="Hiragino Kaku Gothic ProN" pitchFamily="34" charset="-122"/>
                <a:cs typeface="Hiragino Kaku Gothic ProN" pitchFamily="34" charset="-120"/>
              </a:rPr>
              <a:t>最小構成から</a:t>
            </a:r>
            <a:endParaRPr lang="en-US" sz="850" dirty="0"/>
          </a:p>
        </p:txBody>
      </p:sp>
      <p:sp>
        <p:nvSpPr>
          <p:cNvPr id="14" name="Text 12"/>
          <p:cNvSpPr/>
          <p:nvPr/>
        </p:nvSpPr>
        <p:spPr>
          <a:xfrm>
            <a:off x="3621024" y="2578608"/>
            <a:ext cx="2176272" cy="82296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実際の件数に合う、最小のプランをご提案します。</a:t>
            </a:r>
            <a:endParaRPr lang="en-US" sz="950" dirty="0"/>
          </a:p>
        </p:txBody>
      </p:sp>
      <p:sp>
        <p:nvSpPr>
          <p:cNvPr id="15" name="Shape 13"/>
          <p:cNvSpPr/>
          <p:nvPr/>
        </p:nvSpPr>
        <p:spPr>
          <a:xfrm>
            <a:off x="6163056" y="1554480"/>
            <a:ext cx="2615184" cy="2011680"/>
          </a:xfrm>
          <a:prstGeom prst="roundRect">
            <a:avLst>
              <a:gd name="adj" fmla="val 2500"/>
            </a:avLst>
          </a:prstGeom>
          <a:solidFill>
            <a:srgbClr val="FFFFFF"/>
          </a:solidFill>
          <a:ln w="12700">
            <a:solidFill>
              <a:srgbClr val="D6E0D9"/>
            </a:solidFill>
            <a:prstDash val="solid"/>
          </a:ln>
        </p:spPr>
      </p:sp>
      <p:sp>
        <p:nvSpPr>
          <p:cNvPr id="16" name="Shape 14"/>
          <p:cNvSpPr/>
          <p:nvPr/>
        </p:nvSpPr>
        <p:spPr>
          <a:xfrm>
            <a:off x="6364224" y="1773936"/>
            <a:ext cx="310896" cy="310896"/>
          </a:xfrm>
          <a:prstGeom prst="ellipse">
            <a:avLst/>
          </a:prstGeom>
          <a:solidFill>
            <a:srgbClr val="1A4D3A"/>
          </a:solidFill>
          <a:ln/>
        </p:spPr>
      </p:sp>
      <p:sp>
        <p:nvSpPr>
          <p:cNvPr id="17" name="Text 15"/>
          <p:cNvSpPr/>
          <p:nvPr/>
        </p:nvSpPr>
        <p:spPr>
          <a:xfrm>
            <a:off x="6272784" y="1746504"/>
            <a:ext cx="49377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3</a:t>
            </a:r>
            <a:endParaRPr lang="en-US" sz="1200" dirty="0"/>
          </a:p>
        </p:txBody>
      </p:sp>
      <p:sp>
        <p:nvSpPr>
          <p:cNvPr id="18" name="Text 16"/>
          <p:cNvSpPr/>
          <p:nvPr/>
        </p:nvSpPr>
        <p:spPr>
          <a:xfrm>
            <a:off x="6784848" y="1792224"/>
            <a:ext cx="1792224" cy="310896"/>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初期設定</a:t>
            </a:r>
            <a:endParaRPr lang="en-US" sz="1250" dirty="0"/>
          </a:p>
        </p:txBody>
      </p:sp>
      <p:sp>
        <p:nvSpPr>
          <p:cNvPr id="19" name="Text 17"/>
          <p:cNvSpPr/>
          <p:nvPr/>
        </p:nvSpPr>
        <p:spPr>
          <a:xfrm>
            <a:off x="6382512" y="2267712"/>
            <a:ext cx="2176272" cy="256032"/>
          </a:xfrm>
          <a:prstGeom prst="rect">
            <a:avLst/>
          </a:prstGeom>
          <a:noFill/>
          <a:ln/>
        </p:spPr>
        <p:txBody>
          <a:bodyPr wrap="square" lIns="0" tIns="0" rIns="0" bIns="0" rtlCol="0" anchor="t"/>
          <a:lstStyle/>
          <a:p>
            <a:pPr algn="l" indent="0" marL="0">
              <a:lnSpc>
                <a:spcPct val="130000"/>
              </a:lnSpc>
              <a:buNone/>
            </a:pPr>
            <a:r>
              <a:rPr lang="en-US" sz="850" b="1" dirty="0">
                <a:solidFill>
                  <a:srgbClr val="B45309"/>
                </a:solidFill>
                <a:latin typeface="Hiragino Kaku Gothic ProN" pitchFamily="34" charset="0"/>
                <a:ea typeface="Hiragino Kaku Gothic ProN" pitchFamily="34" charset="-122"/>
                <a:cs typeface="Hiragino Kaku Gothic ProN" pitchFamily="34" charset="-120"/>
              </a:rPr>
              <a:t>オンボーディング支援あり</a:t>
            </a:r>
            <a:endParaRPr lang="en-US" sz="850" dirty="0"/>
          </a:p>
        </p:txBody>
      </p:sp>
      <p:sp>
        <p:nvSpPr>
          <p:cNvPr id="20" name="Text 18"/>
          <p:cNvSpPr/>
          <p:nvPr/>
        </p:nvSpPr>
        <p:spPr>
          <a:xfrm>
            <a:off x="6382512" y="2578608"/>
            <a:ext cx="2176272" cy="82296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案件種別・権限・書式を設定します。</a:t>
            </a:r>
            <a:endParaRPr lang="en-US" sz="950" dirty="0"/>
          </a:p>
        </p:txBody>
      </p:sp>
      <p:sp>
        <p:nvSpPr>
          <p:cNvPr id="21" name="Shape 19"/>
          <p:cNvSpPr/>
          <p:nvPr/>
        </p:nvSpPr>
        <p:spPr>
          <a:xfrm>
            <a:off x="8924544" y="1554480"/>
            <a:ext cx="2615184" cy="2011680"/>
          </a:xfrm>
          <a:prstGeom prst="roundRect">
            <a:avLst>
              <a:gd name="adj" fmla="val 2500"/>
            </a:avLst>
          </a:prstGeom>
          <a:solidFill>
            <a:srgbClr val="FFFFFF"/>
          </a:solidFill>
          <a:ln w="12700">
            <a:solidFill>
              <a:srgbClr val="D6E0D9"/>
            </a:solidFill>
            <a:prstDash val="solid"/>
          </a:ln>
        </p:spPr>
      </p:sp>
      <p:sp>
        <p:nvSpPr>
          <p:cNvPr id="22" name="Shape 20"/>
          <p:cNvSpPr/>
          <p:nvPr/>
        </p:nvSpPr>
        <p:spPr>
          <a:xfrm>
            <a:off x="9125712" y="1773936"/>
            <a:ext cx="310896" cy="310896"/>
          </a:xfrm>
          <a:prstGeom prst="ellipse">
            <a:avLst/>
          </a:prstGeom>
          <a:solidFill>
            <a:srgbClr val="1A4D3A"/>
          </a:solidFill>
          <a:ln/>
        </p:spPr>
      </p:sp>
      <p:sp>
        <p:nvSpPr>
          <p:cNvPr id="23" name="Text 21"/>
          <p:cNvSpPr/>
          <p:nvPr/>
        </p:nvSpPr>
        <p:spPr>
          <a:xfrm>
            <a:off x="9034272" y="1746504"/>
            <a:ext cx="493776"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Kaku Gothic ProN" pitchFamily="34" charset="0"/>
                <a:ea typeface="Hiragino Kaku Gothic ProN" pitchFamily="34" charset="-122"/>
                <a:cs typeface="Hiragino Kaku Gothic ProN" pitchFamily="34" charset="-120"/>
              </a:rPr>
              <a:t>4</a:t>
            </a:r>
            <a:endParaRPr lang="en-US" sz="1200" dirty="0"/>
          </a:p>
        </p:txBody>
      </p:sp>
      <p:sp>
        <p:nvSpPr>
          <p:cNvPr id="24" name="Text 22"/>
          <p:cNvSpPr/>
          <p:nvPr/>
        </p:nvSpPr>
        <p:spPr>
          <a:xfrm>
            <a:off x="9546336" y="1792224"/>
            <a:ext cx="1792224" cy="310896"/>
          </a:xfrm>
          <a:prstGeom prst="rect">
            <a:avLst/>
          </a:prstGeom>
          <a:noFill/>
          <a:ln/>
        </p:spPr>
        <p:txBody>
          <a:bodyPr wrap="square" lIns="0" tIns="0" rIns="0" bIns="0" rtlCol="0" anchor="t"/>
          <a:lstStyle/>
          <a:p>
            <a:pPr algn="l" indent="0" marL="0">
              <a:lnSpc>
                <a:spcPct val="130000"/>
              </a:lnSpc>
              <a:buNone/>
            </a:pPr>
            <a:r>
              <a:rPr lang="en-US" sz="1250" b="1" dirty="0">
                <a:solidFill>
                  <a:srgbClr val="0F3D2E"/>
                </a:solidFill>
                <a:latin typeface="Hiragino Kaku Gothic ProN" pitchFamily="34" charset="0"/>
                <a:ea typeface="Hiragino Kaku Gothic ProN" pitchFamily="34" charset="-122"/>
                <a:cs typeface="Hiragino Kaku Gothic ProN" pitchFamily="34" charset="-120"/>
              </a:rPr>
              <a:t>運用開始</a:t>
            </a:r>
            <a:endParaRPr lang="en-US" sz="1250" dirty="0"/>
          </a:p>
        </p:txBody>
      </p:sp>
      <p:sp>
        <p:nvSpPr>
          <p:cNvPr id="25" name="Text 23"/>
          <p:cNvSpPr/>
          <p:nvPr/>
        </p:nvSpPr>
        <p:spPr>
          <a:xfrm>
            <a:off x="9144000" y="2267712"/>
            <a:ext cx="2176272" cy="256032"/>
          </a:xfrm>
          <a:prstGeom prst="rect">
            <a:avLst/>
          </a:prstGeom>
          <a:noFill/>
          <a:ln/>
        </p:spPr>
        <p:txBody>
          <a:bodyPr wrap="square" lIns="0" tIns="0" rIns="0" bIns="0" rtlCol="0" anchor="t"/>
          <a:lstStyle/>
          <a:p>
            <a:pPr algn="l" indent="0" marL="0">
              <a:lnSpc>
                <a:spcPct val="130000"/>
              </a:lnSpc>
              <a:buNone/>
            </a:pPr>
            <a:r>
              <a:rPr lang="en-US" sz="850" b="1" dirty="0">
                <a:solidFill>
                  <a:srgbClr val="B45309"/>
                </a:solidFill>
                <a:latin typeface="Hiragino Kaku Gothic ProN" pitchFamily="34" charset="0"/>
                <a:ea typeface="Hiragino Kaku Gothic ProN" pitchFamily="34" charset="-122"/>
                <a:cs typeface="Hiragino Kaku Gothic ProN" pitchFamily="34" charset="-120"/>
              </a:rPr>
              <a:t>月次で確認</a:t>
            </a:r>
            <a:endParaRPr lang="en-US" sz="850" dirty="0"/>
          </a:p>
        </p:txBody>
      </p:sp>
      <p:sp>
        <p:nvSpPr>
          <p:cNvPr id="26" name="Text 24"/>
          <p:cNvSpPr/>
          <p:nvPr/>
        </p:nvSpPr>
        <p:spPr>
          <a:xfrm>
            <a:off x="9144000" y="2578608"/>
            <a:ext cx="2176272" cy="822960"/>
          </a:xfrm>
          <a:prstGeom prst="rect">
            <a:avLst/>
          </a:prstGeom>
          <a:noFill/>
          <a:ln/>
        </p:spPr>
        <p:txBody>
          <a:bodyPr wrap="square" lIns="0" tIns="0" rIns="0" bIns="0" rtlCol="0" anchor="t"/>
          <a:lstStyle/>
          <a:p>
            <a:pPr algn="l" indent="0" marL="0">
              <a:lnSpc>
                <a:spcPct val="130000"/>
              </a:lnSpc>
              <a:buNone/>
            </a:pPr>
            <a:r>
              <a:rPr lang="en-US" sz="950" dirty="0">
                <a:solidFill>
                  <a:srgbClr val="1A2421"/>
                </a:solidFill>
                <a:latin typeface="Hiragino Kaku Gothic ProN" pitchFamily="34" charset="0"/>
                <a:ea typeface="Hiragino Kaku Gothic ProN" pitchFamily="34" charset="-122"/>
                <a:cs typeface="Hiragino Kaku Gothic ProN" pitchFamily="34" charset="-120"/>
              </a:rPr>
              <a:t>開始後も、月次で運用状況をご一緒に確認します。</a:t>
            </a:r>
            <a:endParaRPr lang="en-US" sz="950" dirty="0"/>
          </a:p>
        </p:txBody>
      </p:sp>
      <p:sp>
        <p:nvSpPr>
          <p:cNvPr id="27" name="Text 25"/>
          <p:cNvSpPr/>
          <p:nvPr/>
        </p:nvSpPr>
        <p:spPr>
          <a:xfrm>
            <a:off x="640080" y="4023360"/>
            <a:ext cx="10911535" cy="457200"/>
          </a:xfrm>
          <a:prstGeom prst="rect">
            <a:avLst/>
          </a:prstGeom>
          <a:noFill/>
          <a:ln/>
        </p:spPr>
        <p:txBody>
          <a:bodyPr wrap="square" lIns="0" tIns="0" rIns="0" bIns="0" rtlCol="0" anchor="ctr"/>
          <a:lstStyle/>
          <a:p>
            <a:pPr algn="ctr" indent="0" marL="0">
              <a:buNone/>
            </a:pPr>
            <a:r>
              <a:rPr lang="en-US" sz="1600" b="1" dirty="0">
                <a:solidFill>
                  <a:srgbClr val="0F3D2E"/>
                </a:solidFill>
                <a:latin typeface="Hiragino Mincho ProN" pitchFamily="34" charset="0"/>
                <a:ea typeface="Hiragino Mincho ProN" pitchFamily="34" charset="-122"/>
                <a:cs typeface="Hiragino Mincho ProN" pitchFamily="34" charset="-120"/>
              </a:rPr>
              <a:t>まずは、いまの案件数と運用の状況をお聞かせください。</a:t>
            </a:r>
            <a:endParaRPr lang="en-US" sz="1600" dirty="0"/>
          </a:p>
        </p:txBody>
      </p:sp>
      <p:sp>
        <p:nvSpPr>
          <p:cNvPr id="28" name="Shape 26"/>
          <p:cNvSpPr/>
          <p:nvPr/>
        </p:nvSpPr>
        <p:spPr>
          <a:xfrm>
            <a:off x="2103120" y="4709160"/>
            <a:ext cx="7985455" cy="1371600"/>
          </a:xfrm>
          <a:prstGeom prst="roundRect">
            <a:avLst>
              <a:gd name="adj" fmla="val 3667"/>
            </a:avLst>
          </a:prstGeom>
          <a:solidFill>
            <a:srgbClr val="F1F5F2"/>
          </a:solidFill>
          <a:ln w="12700">
            <a:solidFill>
              <a:srgbClr val="D6E0D9"/>
            </a:solidFill>
            <a:prstDash val="solid"/>
          </a:ln>
        </p:spPr>
      </p:sp>
      <p:sp>
        <p:nvSpPr>
          <p:cNvPr id="29" name="Text 27"/>
          <p:cNvSpPr/>
          <p:nvPr/>
        </p:nvSpPr>
        <p:spPr>
          <a:xfrm>
            <a:off x="2103120" y="4910328"/>
            <a:ext cx="7985455" cy="274320"/>
          </a:xfrm>
          <a:prstGeom prst="rect">
            <a:avLst/>
          </a:prstGeom>
          <a:noFill/>
          <a:ln/>
        </p:spPr>
        <p:txBody>
          <a:bodyPr wrap="square" lIns="0" tIns="0" rIns="0" bIns="0" rtlCol="0" anchor="t"/>
          <a:lstStyle/>
          <a:p>
            <a:pPr algn="ctr" indent="0" marL="0">
              <a:lnSpc>
                <a:spcPct val="130000"/>
              </a:lnSpc>
              <a:buNone/>
            </a:pPr>
            <a:r>
              <a:rPr lang="en-US" sz="1050" dirty="0">
                <a:solidFill>
                  <a:srgbClr val="6B7570"/>
                </a:solidFill>
                <a:latin typeface="Hiragino Kaku Gothic ProN" pitchFamily="34" charset="0"/>
                <a:ea typeface="Hiragino Kaku Gothic ProN" pitchFamily="34" charset="-122"/>
                <a:cs typeface="Hiragino Kaku Gothic ProN" pitchFamily="34" charset="-120"/>
              </a:rPr>
              <a:t>無料相談（オンライン・15分）はこちらから</a:t>
            </a:r>
            <a:endParaRPr lang="en-US" sz="1050" dirty="0"/>
          </a:p>
        </p:txBody>
      </p:sp>
      <p:sp>
        <p:nvSpPr>
          <p:cNvPr id="30" name="Text 28"/>
          <p:cNvSpPr/>
          <p:nvPr/>
        </p:nvSpPr>
        <p:spPr>
          <a:xfrm>
            <a:off x="2103120" y="5202936"/>
            <a:ext cx="7985455" cy="365760"/>
          </a:xfrm>
          <a:prstGeom prst="rect">
            <a:avLst/>
          </a:prstGeom>
          <a:noFill/>
          <a:ln/>
        </p:spPr>
        <p:txBody>
          <a:bodyPr wrap="square" lIns="0" tIns="0" rIns="0" bIns="0" rtlCol="0" anchor="t"/>
          <a:lstStyle/>
          <a:p>
            <a:pPr algn="ctr" indent="0" marL="0">
              <a:lnSpc>
                <a:spcPct val="130000"/>
              </a:lnSpc>
              <a:buNone/>
            </a:pPr>
            <a:r>
              <a:rPr lang="en-US" sz="1500" b="1" dirty="0">
                <a:solidFill>
                  <a:srgbClr val="2E6B53"/>
                </a:solidFill>
                <a:latin typeface="Hiragino Kaku Gothic ProN" pitchFamily="34" charset="0"/>
                <a:ea typeface="Hiragino Kaku Gothic ProN" pitchFamily="34" charset="-122"/>
                <a:cs typeface="Hiragino Kaku Gothic ProN" pitchFamily="34" charset="-120"/>
              </a:rPr>
              <a:t>https://consult.casetra.jp/</a:t>
            </a:r>
            <a:endParaRPr lang="en-US" sz="1500" dirty="0"/>
          </a:p>
        </p:txBody>
      </p:sp>
      <p:sp>
        <p:nvSpPr>
          <p:cNvPr id="31" name="Text 29"/>
          <p:cNvSpPr/>
          <p:nvPr/>
        </p:nvSpPr>
        <p:spPr>
          <a:xfrm>
            <a:off x="2103120" y="5623560"/>
            <a:ext cx="7985455" cy="274320"/>
          </a:xfrm>
          <a:prstGeom prst="rect">
            <a:avLst/>
          </a:prstGeom>
          <a:noFill/>
          <a:ln/>
        </p:spPr>
        <p:txBody>
          <a:bodyPr wrap="square" lIns="0" tIns="0" rIns="0" bIns="0" rtlCol="0" anchor="t"/>
          <a:lstStyle/>
          <a:p>
            <a:pPr algn="ctr" indent="0" marL="0">
              <a:lnSpc>
                <a:spcPct val="130000"/>
              </a:lnSpc>
              <a:buNone/>
            </a:pPr>
            <a:r>
              <a:rPr lang="en-US" sz="950" dirty="0">
                <a:solidFill>
                  <a:srgbClr val="6B7570"/>
                </a:solidFill>
                <a:latin typeface="Hiragino Kaku Gothic ProN" pitchFamily="34" charset="0"/>
                <a:ea typeface="Hiragino Kaku Gothic ProN" pitchFamily="34" charset="-122"/>
                <a:cs typeface="Hiragino Kaku Gothic ProN" pitchFamily="34" charset="-120"/>
              </a:rPr>
              <a:t>CASETRA｜開発・提供：KIDUKIコンサルティング産業医事務所</a:t>
            </a:r>
            <a:endParaRPr lang="en-US" sz="950" dirty="0"/>
          </a:p>
        </p:txBody>
      </p:sp>
      <p:sp>
        <p:nvSpPr>
          <p:cNvPr id="32" name="Text 30"/>
          <p:cNvSpPr/>
          <p:nvPr/>
        </p:nvSpPr>
        <p:spPr>
          <a:xfrm>
            <a:off x="640080" y="6473952"/>
            <a:ext cx="5943600" cy="274320"/>
          </a:xfrm>
          <a:prstGeom prst="rect">
            <a:avLst/>
          </a:prstGeom>
          <a:noFill/>
          <a:ln/>
        </p:spPr>
        <p:txBody>
          <a:bodyPr wrap="square" lIns="0" tIns="0" rIns="0" bIns="0" rtlCol="0" anchor="ctr"/>
          <a:lstStyle/>
          <a:p>
            <a:pPr algn="l"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CASETRA｜KIDUKIコンサルティング産業医事務所</a:t>
            </a:r>
            <a:endParaRPr lang="en-US" sz="800" dirty="0"/>
          </a:p>
        </p:txBody>
      </p:sp>
      <p:sp>
        <p:nvSpPr>
          <p:cNvPr id="33" name="Text 31"/>
          <p:cNvSpPr/>
          <p:nvPr/>
        </p:nvSpPr>
        <p:spPr>
          <a:xfrm>
            <a:off x="10637215" y="6473952"/>
            <a:ext cx="914400" cy="274320"/>
          </a:xfrm>
          <a:prstGeom prst="rect">
            <a:avLst/>
          </a:prstGeom>
          <a:noFill/>
          <a:ln/>
        </p:spPr>
        <p:txBody>
          <a:bodyPr wrap="square" lIns="0" tIns="0" rIns="0" bIns="0" rtlCol="0" anchor="ctr"/>
          <a:lstStyle/>
          <a:p>
            <a:pPr algn="r" indent="0" marL="0">
              <a:buNone/>
            </a:pPr>
            <a:r>
              <a:rPr lang="en-US" sz="800" dirty="0">
                <a:solidFill>
                  <a:srgbClr val="6B7570"/>
                </a:solidFill>
                <a:latin typeface="Hiragino Kaku Gothic ProN" pitchFamily="34" charset="0"/>
                <a:ea typeface="Hiragino Kaku Gothic ProN" pitchFamily="34" charset="-122"/>
                <a:cs typeface="Hiragino Kaku Gothic ProN" pitchFamily="34" charset="-120"/>
              </a:rPr>
              <a:t>08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Hiragino Kaku Gothic ProN"/>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Hiragino Kaku Gothic ProN"/>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KIDUKIコンサルティング産業医事務所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CASETRA プラットフォームのご案内 2026.08</dc:title>
  <dc:subject>PptxGenJS Presentation</dc:subject>
  <dc:creator>KIDUKIコンサルティング産業医事務所</dc:creator>
  <cp:lastModifiedBy>KIDUKIコンサルティング産業医事務所</cp:lastModifiedBy>
  <cp:revision>1</cp:revision>
  <dcterms:created xsi:type="dcterms:W3CDTF">2026-08-06T00:47:48Z</dcterms:created>
  <dcterms:modified xsi:type="dcterms:W3CDTF">2026-08-06T00:47:48Z</dcterms:modified>
</cp:coreProperties>
</file>